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5"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FFCC"/>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8334EEC9-1D3F-4D2A-BED0-C4E213D4BCCD}" type="datetimeFigureOut">
              <a:rPr lang="en-IN" smtClean="0"/>
              <a:t>28-06-2026</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3E10771C-CB15-4896-93C7-C91661C9FE3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34EEC9-1D3F-4D2A-BED0-C4E213D4BCCD}" type="datetimeFigureOut">
              <a:rPr lang="en-IN" smtClean="0"/>
              <a:t>28-06-2026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10771C-CB15-4896-93C7-C91661C9FE3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8334EEC9-1D3F-4D2A-BED0-C4E213D4BCCD}" type="datetimeFigureOut">
              <a:rPr lang="en-IN" smtClean="0"/>
              <a:t>28-06-2026</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3E10771C-CB15-4896-93C7-C91661C9FE3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34EEC9-1D3F-4D2A-BED0-C4E213D4BCCD}" type="datetimeFigureOut">
              <a:rPr lang="en-IN" smtClean="0"/>
              <a:t>28-06-2026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10771C-CB15-4896-93C7-C91661C9FE3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34EEC9-1D3F-4D2A-BED0-C4E213D4BCCD}" type="datetimeFigureOut">
              <a:rPr lang="en-IN" smtClean="0"/>
              <a:t>28-06-2026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10771C-CB15-4896-93C7-C91661C9FE3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34EEC9-1D3F-4D2A-BED0-C4E213D4BCCD}" type="datetimeFigureOut">
              <a:rPr lang="en-IN" smtClean="0"/>
              <a:t>28-06-2026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10771C-CB15-4896-93C7-C91661C9FE3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34EEC9-1D3F-4D2A-BED0-C4E213D4BCCD}" type="datetimeFigureOut">
              <a:rPr lang="en-IN" smtClean="0"/>
              <a:t>28-06-2026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E10771C-CB15-4896-93C7-C91661C9FE3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34EEC9-1D3F-4D2A-BED0-C4E213D4BCCD}" type="datetimeFigureOut">
              <a:rPr lang="en-IN" smtClean="0"/>
              <a:t>28-06-2026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10771C-CB15-4896-93C7-C91661C9FE3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34EEC9-1D3F-4D2A-BED0-C4E213D4BCCD}" type="datetimeFigureOut">
              <a:rPr lang="en-IN" smtClean="0"/>
              <a:t>28-06-2026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10771C-CB15-4896-93C7-C91661C9FE3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34EEC9-1D3F-4D2A-BED0-C4E213D4BCCD}" type="datetimeFigureOut">
              <a:rPr lang="en-IN" smtClean="0"/>
              <a:t>28-06-2026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10771C-CB15-4896-93C7-C91661C9FE3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8334EEC9-1D3F-4D2A-BED0-C4E213D4BCCD}" type="datetimeFigureOut">
              <a:rPr lang="en-IN" smtClean="0"/>
              <a:t>28-06-2026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3E10771C-CB15-4896-93C7-C91661C9FE39}"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8334EEC9-1D3F-4D2A-BED0-C4E213D4BCCD}" type="datetimeFigureOut">
              <a:rPr lang="en-IN" smtClean="0"/>
              <a:t>28-06-2026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3E10771C-CB15-4896-93C7-C91661C9FE39}"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8334EEC9-1D3F-4D2A-BED0-C4E213D4BCCD}" type="datetimeFigureOut">
              <a:rPr lang="en-IN" smtClean="0"/>
              <a:t>28-06-2026</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3E10771C-CB15-4896-93C7-C91661C9FE39}"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334EEC9-1D3F-4D2A-BED0-C4E213D4BCCD}" type="datetimeFigureOut">
              <a:rPr lang="en-IN" smtClean="0"/>
              <a:t>28-06-2026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10771C-CB15-4896-93C7-C91661C9FE39}"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334EEC9-1D3F-4D2A-BED0-C4E213D4BCCD}" type="datetimeFigureOut">
              <a:rPr lang="en-IN" smtClean="0"/>
              <a:t>28-06-2026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10771C-CB15-4896-93C7-C91661C9FE39}"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34EEC9-1D3F-4D2A-BED0-C4E213D4BCCD}" type="datetimeFigureOut">
              <a:rPr lang="en-IN" smtClean="0"/>
              <a:t>28-06-2026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10771C-CB15-4896-93C7-C91661C9FE39}"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8334EEC9-1D3F-4D2A-BED0-C4E213D4BCCD}" type="datetimeFigureOut">
              <a:rPr lang="en-IN" smtClean="0"/>
              <a:t>28-06-2026</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3E10771C-CB15-4896-93C7-C91661C9FE3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1-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334EEC9-1D3F-4D2A-BED0-C4E213D4BCCD}" type="datetimeFigureOut">
              <a:rPr lang="en-IN" smtClean="0"/>
              <a:t>28-06-2026</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E10771C-CB15-4896-93C7-C91661C9FE39}"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bin"/><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789"/>
            <a:ext cx="12192000" cy="6965577"/>
          </a:xfrm>
          <a:prstGeom prst="rect">
            <a:avLst/>
          </a:prstGeom>
        </p:spPr>
      </p:pic>
      <p:sp>
        <p:nvSpPr>
          <p:cNvPr id="6" name="TextBox 5"/>
          <p:cNvSpPr txBox="1"/>
          <p:nvPr/>
        </p:nvSpPr>
        <p:spPr>
          <a:xfrm>
            <a:off x="1515034" y="1255055"/>
            <a:ext cx="9986683" cy="1384995"/>
          </a:xfrm>
          <a:prstGeom prst="rect">
            <a:avLst/>
          </a:prstGeom>
          <a:noFill/>
        </p:spPr>
        <p:txBody>
          <a:bodyPr wrap="square" rtlCol="0">
            <a:spAutoFit/>
          </a:bodyPr>
          <a:lstStyle/>
          <a:p>
            <a:pPr algn="ctr"/>
            <a:r>
              <a:rPr lang="en-US" sz="2800" b="1" dirty="0">
                <a:solidFill>
                  <a:srgbClr val="FFFF00"/>
                </a:solidFill>
                <a:latin typeface="Algerian" panose="04020705040A02060702" pitchFamily="82" charset="0"/>
              </a:rPr>
              <a:t>PREPARATION, CHARACTERISATION AND ENGINE PERFORMANCE EVALUATION WITH BLENDS OF BIO-DIESEL USING WASTE COOKING OIL </a:t>
            </a:r>
            <a:r>
              <a:rPr lang="en-US" sz="2800" dirty="0">
                <a:solidFill>
                  <a:srgbClr val="FFFF00"/>
                </a:solidFill>
              </a:rPr>
              <a:t>  </a:t>
            </a:r>
            <a:endParaRPr lang="en-IN" sz="2800" dirty="0">
              <a:solidFill>
                <a:srgbClr val="FFFF00"/>
              </a:solidFill>
            </a:endParaRPr>
          </a:p>
        </p:txBody>
      </p:sp>
      <p:sp>
        <p:nvSpPr>
          <p:cNvPr id="7" name="TextBox 6"/>
          <p:cNvSpPr txBox="1"/>
          <p:nvPr/>
        </p:nvSpPr>
        <p:spPr>
          <a:xfrm>
            <a:off x="1515034" y="3629917"/>
            <a:ext cx="9161929" cy="461665"/>
          </a:xfrm>
          <a:prstGeom prst="rect">
            <a:avLst/>
          </a:prstGeom>
          <a:noFill/>
        </p:spPr>
        <p:txBody>
          <a:bodyPr wrap="square" rtlCol="0">
            <a:spAutoFit/>
          </a:bodyPr>
          <a:lstStyle/>
          <a:p>
            <a:r>
              <a:rPr lang="en-US" sz="2400" dirty="0">
                <a:solidFill>
                  <a:srgbClr val="66FFCC"/>
                </a:solidFill>
              </a:rPr>
              <a:t>                   </a:t>
            </a:r>
            <a:r>
              <a:rPr lang="en-US" sz="2400" u="sng" dirty="0">
                <a:solidFill>
                  <a:srgbClr val="66FFCC"/>
                </a:solidFill>
              </a:rPr>
              <a:t>NAME OF STUDENT </a:t>
            </a:r>
            <a:r>
              <a:rPr lang="en-US" sz="2400" dirty="0">
                <a:solidFill>
                  <a:srgbClr val="66FFCC"/>
                </a:solidFill>
              </a:rPr>
              <a:t>            </a:t>
            </a:r>
            <a:r>
              <a:rPr lang="en-US" sz="2400" u="sng" dirty="0">
                <a:solidFill>
                  <a:srgbClr val="66FFCC"/>
                </a:solidFill>
              </a:rPr>
              <a:t>UNIVERSITY ROLL NO.</a:t>
            </a:r>
            <a:endParaRPr lang="en-IN" sz="2400" u="sng" dirty="0">
              <a:solidFill>
                <a:srgbClr val="66FFCC"/>
              </a:solidFill>
            </a:endParaRPr>
          </a:p>
        </p:txBody>
      </p:sp>
      <p:sp>
        <p:nvSpPr>
          <p:cNvPr id="8" name="TextBox 7"/>
          <p:cNvSpPr txBox="1"/>
          <p:nvPr/>
        </p:nvSpPr>
        <p:spPr>
          <a:xfrm>
            <a:off x="3845860" y="2771714"/>
            <a:ext cx="5199529" cy="830997"/>
          </a:xfrm>
          <a:prstGeom prst="rect">
            <a:avLst/>
          </a:prstGeom>
          <a:noFill/>
        </p:spPr>
        <p:txBody>
          <a:bodyPr wrap="square" rtlCol="0">
            <a:spAutoFit/>
          </a:bodyPr>
          <a:lstStyle/>
          <a:p>
            <a:r>
              <a:rPr lang="en-US" dirty="0"/>
              <a:t>                           </a:t>
            </a:r>
            <a:r>
              <a:rPr lang="en-US" sz="2400" dirty="0">
                <a:solidFill>
                  <a:schemeClr val="accent3">
                    <a:lumMod val="20000"/>
                    <a:lumOff val="80000"/>
                  </a:schemeClr>
                </a:solidFill>
                <a:latin typeface="Forte" panose="03060902040502070203" pitchFamily="66" charset="0"/>
              </a:rPr>
              <a:t>PRESENTED </a:t>
            </a:r>
          </a:p>
          <a:p>
            <a:r>
              <a:rPr lang="en-US" sz="2400" dirty="0">
                <a:solidFill>
                  <a:schemeClr val="accent3">
                    <a:lumMod val="20000"/>
                    <a:lumOff val="80000"/>
                  </a:schemeClr>
                </a:solidFill>
                <a:latin typeface="Forte" panose="03060902040502070203" pitchFamily="66" charset="0"/>
              </a:rPr>
              <a:t>                            BY </a:t>
            </a:r>
            <a:endParaRPr lang="en-IN" sz="2400" dirty="0">
              <a:solidFill>
                <a:schemeClr val="accent3">
                  <a:lumMod val="20000"/>
                  <a:lumOff val="80000"/>
                </a:schemeClr>
              </a:solidFill>
              <a:latin typeface="Forte" panose="03060902040502070203" pitchFamily="66" charset="0"/>
            </a:endParaRPr>
          </a:p>
        </p:txBody>
      </p:sp>
      <p:sp>
        <p:nvSpPr>
          <p:cNvPr id="9" name="TextBox 8"/>
          <p:cNvSpPr txBox="1"/>
          <p:nvPr/>
        </p:nvSpPr>
        <p:spPr>
          <a:xfrm>
            <a:off x="1806387" y="4091582"/>
            <a:ext cx="8220636" cy="1446550"/>
          </a:xfrm>
          <a:prstGeom prst="rect">
            <a:avLst/>
          </a:prstGeom>
          <a:noFill/>
        </p:spPr>
        <p:txBody>
          <a:bodyPr wrap="square" rtlCol="0">
            <a:spAutoFit/>
          </a:bodyPr>
          <a:lstStyle/>
          <a:p>
            <a:r>
              <a:rPr lang="en-US" dirty="0"/>
              <a:t>                           </a:t>
            </a:r>
            <a:r>
              <a:rPr lang="en-US" b="1" dirty="0">
                <a:solidFill>
                  <a:schemeClr val="bg1"/>
                </a:solidFill>
              </a:rPr>
              <a:t>PRATYAY GHOSH </a:t>
            </a:r>
            <a:r>
              <a:rPr lang="en-US" dirty="0">
                <a:solidFill>
                  <a:schemeClr val="bg1"/>
                </a:solidFill>
              </a:rPr>
              <a:t>                               </a:t>
            </a:r>
            <a:r>
              <a:rPr lang="en-US" sz="2200" b="1" dirty="0">
                <a:solidFill>
                  <a:schemeClr val="bg1"/>
                </a:solidFill>
              </a:rPr>
              <a:t>11603219009</a:t>
            </a:r>
          </a:p>
          <a:p>
            <a:r>
              <a:rPr lang="en-US" dirty="0"/>
              <a:t>                           </a:t>
            </a:r>
            <a:r>
              <a:rPr lang="en-US" b="1" dirty="0">
                <a:solidFill>
                  <a:schemeClr val="bg1"/>
                </a:solidFill>
              </a:rPr>
              <a:t>SOUHARDIK  KUNDU                           </a:t>
            </a:r>
            <a:r>
              <a:rPr lang="en-US" sz="2200" b="1" dirty="0">
                <a:solidFill>
                  <a:schemeClr val="bg1"/>
                </a:solidFill>
              </a:rPr>
              <a:t>11603219005</a:t>
            </a:r>
          </a:p>
          <a:p>
            <a:r>
              <a:rPr lang="en-US" dirty="0"/>
              <a:t>                           </a:t>
            </a:r>
            <a:r>
              <a:rPr lang="en-US" b="1" dirty="0">
                <a:solidFill>
                  <a:schemeClr val="bg1"/>
                </a:solidFill>
              </a:rPr>
              <a:t>DIPESH MAITI </a:t>
            </a:r>
            <a:r>
              <a:rPr lang="en-US" dirty="0"/>
              <a:t>	                                      </a:t>
            </a:r>
            <a:r>
              <a:rPr lang="en-US" sz="2200" b="1" dirty="0">
                <a:solidFill>
                  <a:schemeClr val="bg1"/>
                </a:solidFill>
              </a:rPr>
              <a:t>11603219007</a:t>
            </a:r>
          </a:p>
          <a:p>
            <a:r>
              <a:rPr lang="en-US" dirty="0"/>
              <a:t>                           </a:t>
            </a:r>
            <a:r>
              <a:rPr lang="en-US" b="1" dirty="0">
                <a:solidFill>
                  <a:schemeClr val="bg1"/>
                </a:solidFill>
              </a:rPr>
              <a:t>LYTZA CHATTERJEE </a:t>
            </a:r>
            <a:r>
              <a:rPr lang="en-US" dirty="0"/>
              <a:t>                             </a:t>
            </a:r>
            <a:r>
              <a:rPr lang="en-US" sz="2200" b="1" dirty="0">
                <a:solidFill>
                  <a:schemeClr val="bg1"/>
                </a:solidFill>
              </a:rPr>
              <a:t>11603219020</a:t>
            </a:r>
            <a:endParaRPr lang="en-IN" sz="2200" b="1" dirty="0">
              <a:solidFill>
                <a:schemeClr val="bg1"/>
              </a:solidFill>
            </a:endParaRPr>
          </a:p>
        </p:txBody>
      </p:sp>
      <p:sp>
        <p:nvSpPr>
          <p:cNvPr id="2" name="TextBox 1"/>
          <p:cNvSpPr txBox="1"/>
          <p:nvPr/>
        </p:nvSpPr>
        <p:spPr>
          <a:xfrm>
            <a:off x="-62755" y="190042"/>
            <a:ext cx="12254755" cy="523220"/>
          </a:xfrm>
          <a:prstGeom prst="rect">
            <a:avLst/>
          </a:prstGeom>
          <a:noFill/>
        </p:spPr>
        <p:txBody>
          <a:bodyPr wrap="square" rtlCol="0">
            <a:spAutoFit/>
          </a:bodyPr>
          <a:lstStyle/>
          <a:p>
            <a:pPr algn="ctr"/>
            <a:r>
              <a:rPr lang="en-IN" sz="2800" b="1" dirty="0">
                <a:latin typeface="Adobe Myungjo Std M" panose="02020600000000000000" pitchFamily="18" charset="-128"/>
                <a:ea typeface="Adobe Myungjo Std M" panose="02020600000000000000" pitchFamily="18" charset="-128"/>
              </a:rPr>
              <a:t>  AUTOMOBILE ENGINEERING FINAL YEAR PROJECT</a:t>
            </a:r>
          </a:p>
        </p:txBody>
      </p:sp>
      <p:sp>
        <p:nvSpPr>
          <p:cNvPr id="3" name="TextBox 2"/>
          <p:cNvSpPr txBox="1"/>
          <p:nvPr/>
        </p:nvSpPr>
        <p:spPr>
          <a:xfrm>
            <a:off x="5777750" y="684975"/>
            <a:ext cx="1595718" cy="523220"/>
          </a:xfrm>
          <a:prstGeom prst="rect">
            <a:avLst/>
          </a:prstGeom>
          <a:noFill/>
        </p:spPr>
        <p:txBody>
          <a:bodyPr wrap="square" rtlCol="0">
            <a:spAutoFit/>
          </a:bodyPr>
          <a:lstStyle/>
          <a:p>
            <a:r>
              <a:rPr lang="en-IN" sz="2800" dirty="0">
                <a:latin typeface="Forte" panose="03060902040502070203" pitchFamily="66" charset="0"/>
              </a:rPr>
              <a:t>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3083" y="197223"/>
            <a:ext cx="6517341" cy="523220"/>
          </a:xfrm>
          <a:prstGeom prst="rect">
            <a:avLst/>
          </a:prstGeom>
          <a:noFill/>
        </p:spPr>
        <p:txBody>
          <a:bodyPr wrap="square" rtlCol="0">
            <a:spAutoFit/>
          </a:bodyPr>
          <a:lstStyle/>
          <a:p>
            <a:r>
              <a:rPr lang="en-US" sz="2800" b="1" dirty="0">
                <a:latin typeface="Adobe Heiti Std R" panose="020B0400000000000000" pitchFamily="34" charset="-128"/>
                <a:ea typeface="Adobe Heiti Std R" panose="020B0400000000000000" pitchFamily="34" charset="-128"/>
              </a:rPr>
              <a:t>INTRODUCTION</a:t>
            </a:r>
            <a:endParaRPr lang="en-IN" sz="2800" b="1" dirty="0">
              <a:latin typeface="Adobe Heiti Std R" panose="020B0400000000000000" pitchFamily="34" charset="-128"/>
              <a:ea typeface="Adobe Heiti Std R" panose="020B0400000000000000" pitchFamily="34" charset="-128"/>
            </a:endParaRPr>
          </a:p>
        </p:txBody>
      </p:sp>
      <p:sp>
        <p:nvSpPr>
          <p:cNvPr id="3" name="TextBox 2"/>
          <p:cNvSpPr txBox="1"/>
          <p:nvPr/>
        </p:nvSpPr>
        <p:spPr>
          <a:xfrm>
            <a:off x="0" y="1282351"/>
            <a:ext cx="7879977" cy="369332"/>
          </a:xfrm>
          <a:prstGeom prst="rect">
            <a:avLst/>
          </a:prstGeom>
          <a:noFill/>
        </p:spPr>
        <p:txBody>
          <a:bodyPr wrap="square" rtlCol="0">
            <a:spAutoFit/>
          </a:bodyPr>
          <a:lstStyle/>
          <a:p>
            <a:r>
              <a:rPr lang="en-US" b="1" dirty="0">
                <a:latin typeface="Adobe Heiti Std R" panose="020B0400000000000000" pitchFamily="34" charset="-128"/>
                <a:ea typeface="Adobe Heiti Std R" panose="020B0400000000000000" pitchFamily="34" charset="-128"/>
              </a:rPr>
              <a:t>    WHAT IS BIO-DIESEL?</a:t>
            </a:r>
            <a:endParaRPr lang="en-IN" b="1" dirty="0">
              <a:latin typeface="Adobe Heiti Std R" panose="020B0400000000000000" pitchFamily="34" charset="-128"/>
              <a:ea typeface="Adobe Heiti Std R" panose="020B0400000000000000" pitchFamily="34" charset="-128"/>
            </a:endParaRPr>
          </a:p>
        </p:txBody>
      </p:sp>
      <p:sp>
        <p:nvSpPr>
          <p:cNvPr id="4" name="TextBox 3"/>
          <p:cNvSpPr txBox="1"/>
          <p:nvPr/>
        </p:nvSpPr>
        <p:spPr>
          <a:xfrm>
            <a:off x="197224" y="1651464"/>
            <a:ext cx="6589058" cy="1938992"/>
          </a:xfrm>
          <a:prstGeom prst="rect">
            <a:avLst/>
          </a:prstGeom>
          <a:noFill/>
        </p:spPr>
        <p:txBody>
          <a:bodyPr wrap="square" rtlCol="0">
            <a:spAutoFit/>
          </a:bodyPr>
          <a:lstStyle/>
          <a:p>
            <a:r>
              <a:rPr lang="en-US" sz="2000" dirty="0"/>
              <a:t>Biodiesel refers to a non-petroleum-based diesel fuel consisting of short chain alkyl (methyl or ethyl) esters, made by Transesterification of vegetable oil or animal fat (tallow), which can be used (alone, or blended with conventional Petro diesel) in unmodified diesel-engine vehicles.</a:t>
            </a:r>
            <a:endParaRPr lang="en-IN" sz="2000" dirty="0"/>
          </a:p>
        </p:txBody>
      </p:sp>
      <p:sp>
        <p:nvSpPr>
          <p:cNvPr id="5" name="TextBox 4"/>
          <p:cNvSpPr txBox="1"/>
          <p:nvPr/>
        </p:nvSpPr>
        <p:spPr>
          <a:xfrm>
            <a:off x="233083" y="3905780"/>
            <a:ext cx="6051176" cy="400110"/>
          </a:xfrm>
          <a:prstGeom prst="rect">
            <a:avLst/>
          </a:prstGeom>
          <a:noFill/>
        </p:spPr>
        <p:txBody>
          <a:bodyPr wrap="square" rtlCol="0">
            <a:spAutoFit/>
          </a:bodyPr>
          <a:lstStyle/>
          <a:p>
            <a:r>
              <a:rPr lang="en-US" sz="2000" b="1" dirty="0"/>
              <a:t>BIO-DIESEL CYCLE :- </a:t>
            </a:r>
            <a:endParaRPr lang="en-IN" sz="2000" b="1"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64106" y="1026987"/>
            <a:ext cx="4535633" cy="2794593"/>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7611" y="3998259"/>
            <a:ext cx="5804647" cy="266571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294" y="277905"/>
            <a:ext cx="8032376" cy="523220"/>
          </a:xfrm>
          <a:prstGeom prst="rect">
            <a:avLst/>
          </a:prstGeom>
          <a:noFill/>
        </p:spPr>
        <p:txBody>
          <a:bodyPr wrap="square" rtlCol="0">
            <a:spAutoFit/>
          </a:bodyPr>
          <a:lstStyle/>
          <a:p>
            <a:r>
              <a:rPr lang="en-US" sz="2800" b="1" dirty="0">
                <a:latin typeface="Adobe Heiti Std R" panose="020B0400000000000000" pitchFamily="34" charset="-128"/>
                <a:ea typeface="Adobe Heiti Std R" panose="020B0400000000000000" pitchFamily="34" charset="-128"/>
              </a:rPr>
              <a:t>SCENARIO OF WASTE COOKING OIL IN INDIA  </a:t>
            </a:r>
            <a:endParaRPr lang="en-IN" sz="2800" b="1" dirty="0">
              <a:latin typeface="Adobe Heiti Std R" panose="020B0400000000000000" pitchFamily="34" charset="-128"/>
              <a:ea typeface="Adobe Heiti Std R" panose="020B0400000000000000" pitchFamily="34" charset="-128"/>
            </a:endParaRPr>
          </a:p>
        </p:txBody>
      </p:sp>
      <p:sp>
        <p:nvSpPr>
          <p:cNvPr id="3" name="TextBox 2"/>
          <p:cNvSpPr txBox="1"/>
          <p:nvPr/>
        </p:nvSpPr>
        <p:spPr>
          <a:xfrm>
            <a:off x="268942" y="1344706"/>
            <a:ext cx="6759388" cy="4154984"/>
          </a:xfrm>
          <a:prstGeom prst="rect">
            <a:avLst/>
          </a:prstGeom>
          <a:noFill/>
        </p:spPr>
        <p:txBody>
          <a:bodyPr wrap="square" rtlCol="0">
            <a:spAutoFit/>
          </a:bodyPr>
          <a:lstStyle/>
          <a:p>
            <a:r>
              <a:rPr lang="en-US" sz="2400" dirty="0"/>
              <a:t>The Food Safety and Standards Authority of India(fssai) estimates that the amount of Waste Cooking Oil produced in India is around 3 million metric tons annually .The majority of spent cooking oil from houses is disposed of in the drainage and soil or returns to the food chain. Thus, one recommendation to overcome these issues is to utilize the Waste Cooking Oil as raw materials for biodiesel which is more economical and environment friendly</a:t>
            </a:r>
            <a:r>
              <a:rPr lang="en-US" dirty="0"/>
              <a:t>.</a:t>
            </a:r>
            <a:endParaRPr lang="en-IN"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67806" y="654423"/>
            <a:ext cx="3820782" cy="2085510"/>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67326" y="2976283"/>
            <a:ext cx="3621741" cy="369915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5483" y="340660"/>
            <a:ext cx="5002306" cy="461665"/>
          </a:xfrm>
          <a:prstGeom prst="rect">
            <a:avLst/>
          </a:prstGeom>
          <a:noFill/>
        </p:spPr>
        <p:txBody>
          <a:bodyPr wrap="square" rtlCol="0">
            <a:spAutoFit/>
          </a:bodyPr>
          <a:lstStyle/>
          <a:p>
            <a:r>
              <a:rPr lang="en-US" sz="2400" b="1" dirty="0">
                <a:latin typeface="Adobe Heiti Std R" panose="020B0400000000000000" pitchFamily="34" charset="-128"/>
                <a:ea typeface="Adobe Heiti Std R" panose="020B0400000000000000" pitchFamily="34" charset="-128"/>
              </a:rPr>
              <a:t>SELECTION OF OIL</a:t>
            </a:r>
            <a:endParaRPr lang="en-IN" sz="2400" b="1" dirty="0">
              <a:latin typeface="Adobe Heiti Std R" panose="020B0400000000000000" pitchFamily="34" charset="-128"/>
              <a:ea typeface="Adobe Heiti Std R" panose="020B0400000000000000" pitchFamily="34" charset="-128"/>
            </a:endParaRPr>
          </a:p>
        </p:txBody>
      </p:sp>
      <p:sp>
        <p:nvSpPr>
          <p:cNvPr id="3" name="TextBox 2"/>
          <p:cNvSpPr txBox="1"/>
          <p:nvPr/>
        </p:nvSpPr>
        <p:spPr>
          <a:xfrm>
            <a:off x="385483" y="923396"/>
            <a:ext cx="7718612" cy="369332"/>
          </a:xfrm>
          <a:prstGeom prst="rect">
            <a:avLst/>
          </a:prstGeom>
          <a:noFill/>
        </p:spPr>
        <p:txBody>
          <a:bodyPr wrap="square" rtlCol="0">
            <a:spAutoFit/>
          </a:bodyPr>
          <a:lstStyle/>
          <a:p>
            <a:r>
              <a:rPr lang="en-US" b="1" dirty="0">
                <a:latin typeface="Adobe Heiti Std R" panose="020B0400000000000000" pitchFamily="34" charset="-128"/>
                <a:ea typeface="Adobe Heiti Std R" panose="020B0400000000000000" pitchFamily="34" charset="-128"/>
              </a:rPr>
              <a:t>We have selected Waste Palm oil as our subject of interest</a:t>
            </a:r>
            <a:r>
              <a:rPr lang="en-US" dirty="0"/>
              <a:t>.</a:t>
            </a:r>
            <a:endParaRPr lang="en-IN" dirty="0"/>
          </a:p>
        </p:txBody>
      </p:sp>
      <p:sp>
        <p:nvSpPr>
          <p:cNvPr id="5" name="Arrow: Right 4"/>
          <p:cNvSpPr/>
          <p:nvPr/>
        </p:nvSpPr>
        <p:spPr>
          <a:xfrm>
            <a:off x="322730" y="1576411"/>
            <a:ext cx="358588" cy="2106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681317" y="1452985"/>
            <a:ext cx="10811435" cy="923330"/>
          </a:xfrm>
          <a:prstGeom prst="rect">
            <a:avLst/>
          </a:prstGeom>
          <a:noFill/>
        </p:spPr>
        <p:txBody>
          <a:bodyPr wrap="square" rtlCol="0">
            <a:spAutoFit/>
          </a:bodyPr>
          <a:lstStyle/>
          <a:p>
            <a:r>
              <a:rPr lang="en-US" dirty="0"/>
              <a:t>India is the world’s second largest consumer of Palm oil and also the world’s largest importer (10</a:t>
            </a:r>
          </a:p>
          <a:p>
            <a:r>
              <a:rPr lang="en-US" dirty="0"/>
              <a:t>million tonnes imported in the year 2018). Due to the low price of palm oil, it is popular among</a:t>
            </a:r>
          </a:p>
          <a:p>
            <a:r>
              <a:rPr lang="en-US" dirty="0"/>
              <a:t>India’s poorer citizens for household cooking.</a:t>
            </a:r>
            <a:endParaRPr lang="en-IN" dirty="0"/>
          </a:p>
        </p:txBody>
      </p:sp>
      <p:sp>
        <p:nvSpPr>
          <p:cNvPr id="9" name="Arrow: Right 8"/>
          <p:cNvSpPr/>
          <p:nvPr/>
        </p:nvSpPr>
        <p:spPr>
          <a:xfrm>
            <a:off x="322729" y="2608263"/>
            <a:ext cx="358588" cy="2106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p:cNvSpPr txBox="1"/>
          <p:nvPr/>
        </p:nvSpPr>
        <p:spPr>
          <a:xfrm>
            <a:off x="681317" y="2505670"/>
            <a:ext cx="11125201" cy="923330"/>
          </a:xfrm>
          <a:prstGeom prst="rect">
            <a:avLst/>
          </a:prstGeom>
          <a:noFill/>
        </p:spPr>
        <p:txBody>
          <a:bodyPr wrap="square" rtlCol="0">
            <a:spAutoFit/>
          </a:bodyPr>
          <a:lstStyle/>
          <a:p>
            <a:r>
              <a:rPr lang="en-US" dirty="0"/>
              <a:t>Due to the high availability and less cost, palm oil is used widely in restaurants, cafes and is a popular choice among local vendors. As a result a large amount of waste palm oil is generated everyday.</a:t>
            </a:r>
            <a:endParaRPr lang="en-IN" dirty="0"/>
          </a:p>
        </p:txBody>
      </p:sp>
      <p:graphicFrame>
        <p:nvGraphicFramePr>
          <p:cNvPr id="4" name="Table 6"/>
          <p:cNvGraphicFramePr>
            <a:graphicFrameLocks noGrp="1"/>
          </p:cNvGraphicFramePr>
          <p:nvPr/>
        </p:nvGraphicFramePr>
        <p:xfrm>
          <a:off x="3379693" y="3451412"/>
          <a:ext cx="8337175" cy="3193446"/>
        </p:xfrm>
        <a:graphic>
          <a:graphicData uri="http://schemas.openxmlformats.org/drawingml/2006/table">
            <a:tbl>
              <a:tblPr firstRow="1" bandRow="1">
                <a:tableStyleId>{073A0DAA-6AF3-43AB-8588-CEC1D06C72B9}</a:tableStyleId>
              </a:tblPr>
              <a:tblGrid>
                <a:gridCol w="1667435">
                  <a:extLst>
                    <a:ext uri="{9D8B030D-6E8A-4147-A177-3AD203B41FA5}">
                      <a16:colId xmlns:a16="http://schemas.microsoft.com/office/drawing/2014/main" val="20000"/>
                    </a:ext>
                  </a:extLst>
                </a:gridCol>
                <a:gridCol w="1667435">
                  <a:extLst>
                    <a:ext uri="{9D8B030D-6E8A-4147-A177-3AD203B41FA5}">
                      <a16:colId xmlns:a16="http://schemas.microsoft.com/office/drawing/2014/main" val="20001"/>
                    </a:ext>
                  </a:extLst>
                </a:gridCol>
                <a:gridCol w="1667435">
                  <a:extLst>
                    <a:ext uri="{9D8B030D-6E8A-4147-A177-3AD203B41FA5}">
                      <a16:colId xmlns:a16="http://schemas.microsoft.com/office/drawing/2014/main" val="20002"/>
                    </a:ext>
                  </a:extLst>
                </a:gridCol>
                <a:gridCol w="1667435">
                  <a:extLst>
                    <a:ext uri="{9D8B030D-6E8A-4147-A177-3AD203B41FA5}">
                      <a16:colId xmlns:a16="http://schemas.microsoft.com/office/drawing/2014/main" val="20003"/>
                    </a:ext>
                  </a:extLst>
                </a:gridCol>
                <a:gridCol w="1667435">
                  <a:extLst>
                    <a:ext uri="{9D8B030D-6E8A-4147-A177-3AD203B41FA5}">
                      <a16:colId xmlns:a16="http://schemas.microsoft.com/office/drawing/2014/main" val="20004"/>
                    </a:ext>
                  </a:extLst>
                </a:gridCol>
              </a:tblGrid>
              <a:tr h="0">
                <a:tc>
                  <a:txBody>
                    <a:bodyPr/>
                    <a:lstStyle/>
                    <a:p>
                      <a:r>
                        <a:rPr lang="en-US" dirty="0"/>
                        <a:t>OIL</a:t>
                      </a:r>
                      <a:endParaRPr lang="en-IN" dirty="0"/>
                    </a:p>
                  </a:txBody>
                  <a:tcPr/>
                </a:tc>
                <a:tc>
                  <a:txBody>
                    <a:bodyPr/>
                    <a:lstStyle/>
                    <a:p>
                      <a:r>
                        <a:rPr lang="en-US" dirty="0"/>
                        <a:t>2019</a:t>
                      </a:r>
                      <a:endParaRPr lang="en-IN" dirty="0"/>
                    </a:p>
                  </a:txBody>
                  <a:tcPr/>
                </a:tc>
                <a:tc>
                  <a:txBody>
                    <a:bodyPr/>
                    <a:lstStyle/>
                    <a:p>
                      <a:r>
                        <a:rPr lang="en-US" dirty="0"/>
                        <a:t>2020</a:t>
                      </a:r>
                      <a:endParaRPr lang="en-IN" dirty="0"/>
                    </a:p>
                  </a:txBody>
                  <a:tcPr/>
                </a:tc>
                <a:tc>
                  <a:txBody>
                    <a:bodyPr/>
                    <a:lstStyle/>
                    <a:p>
                      <a:r>
                        <a:rPr lang="en-US" dirty="0"/>
                        <a:t>2021</a:t>
                      </a:r>
                      <a:endParaRPr lang="en-IN" dirty="0"/>
                    </a:p>
                  </a:txBody>
                  <a:tcPr/>
                </a:tc>
                <a:tc>
                  <a:txBody>
                    <a:bodyPr/>
                    <a:lstStyle/>
                    <a:p>
                      <a:r>
                        <a:rPr lang="en-US" dirty="0"/>
                        <a:t>2022</a:t>
                      </a:r>
                      <a:endParaRPr lang="en-IN" dirty="0"/>
                    </a:p>
                  </a:txBody>
                  <a:tcPr/>
                </a:tc>
                <a:extLst>
                  <a:ext uri="{0D108BD9-81ED-4DB2-BD59-A6C34878D82A}">
                    <a16:rowId xmlns:a16="http://schemas.microsoft.com/office/drawing/2014/main" val="10000"/>
                  </a:ext>
                </a:extLst>
              </a:tr>
              <a:tr h="319418">
                <a:tc>
                  <a:txBody>
                    <a:bodyPr/>
                    <a:lstStyle/>
                    <a:p>
                      <a:r>
                        <a:rPr lang="en-US" dirty="0"/>
                        <a:t>PALM</a:t>
                      </a:r>
                      <a:endParaRPr lang="en-IN" dirty="0"/>
                    </a:p>
                  </a:txBody>
                  <a:tcPr/>
                </a:tc>
                <a:tc>
                  <a:txBody>
                    <a:bodyPr/>
                    <a:lstStyle/>
                    <a:p>
                      <a:r>
                        <a:rPr lang="en-US" dirty="0"/>
                        <a:t>76</a:t>
                      </a:r>
                      <a:endParaRPr lang="en-IN" dirty="0"/>
                    </a:p>
                  </a:txBody>
                  <a:tcPr/>
                </a:tc>
                <a:tc>
                  <a:txBody>
                    <a:bodyPr/>
                    <a:lstStyle/>
                    <a:p>
                      <a:r>
                        <a:rPr lang="en-US" dirty="0"/>
                        <a:t>90</a:t>
                      </a:r>
                      <a:endParaRPr lang="en-IN" dirty="0"/>
                    </a:p>
                  </a:txBody>
                  <a:tcPr/>
                </a:tc>
                <a:tc>
                  <a:txBody>
                    <a:bodyPr/>
                    <a:lstStyle/>
                    <a:p>
                      <a:r>
                        <a:rPr lang="en-US" dirty="0"/>
                        <a:t>140</a:t>
                      </a:r>
                      <a:endParaRPr lang="en-IN" dirty="0"/>
                    </a:p>
                  </a:txBody>
                  <a:tcPr/>
                </a:tc>
                <a:tc>
                  <a:txBody>
                    <a:bodyPr/>
                    <a:lstStyle/>
                    <a:p>
                      <a:r>
                        <a:rPr lang="en-US" dirty="0"/>
                        <a:t>160</a:t>
                      </a:r>
                      <a:endParaRPr lang="en-IN" dirty="0"/>
                    </a:p>
                  </a:txBody>
                  <a:tcPr/>
                </a:tc>
                <a:extLst>
                  <a:ext uri="{0D108BD9-81ED-4DB2-BD59-A6C34878D82A}">
                    <a16:rowId xmlns:a16="http://schemas.microsoft.com/office/drawing/2014/main" val="10001"/>
                  </a:ext>
                </a:extLst>
              </a:tr>
              <a:tr h="545163">
                <a:tc>
                  <a:txBody>
                    <a:bodyPr/>
                    <a:lstStyle/>
                    <a:p>
                      <a:r>
                        <a:rPr lang="en-US" dirty="0"/>
                        <a:t>VANASPATI</a:t>
                      </a:r>
                      <a:endParaRPr lang="en-IN" dirty="0"/>
                    </a:p>
                  </a:txBody>
                  <a:tcPr/>
                </a:tc>
                <a:tc>
                  <a:txBody>
                    <a:bodyPr/>
                    <a:lstStyle/>
                    <a:p>
                      <a:r>
                        <a:rPr lang="en-US" dirty="0"/>
                        <a:t>70</a:t>
                      </a:r>
                      <a:endParaRPr lang="en-IN" dirty="0"/>
                    </a:p>
                  </a:txBody>
                  <a:tcPr/>
                </a:tc>
                <a:tc>
                  <a:txBody>
                    <a:bodyPr/>
                    <a:lstStyle/>
                    <a:p>
                      <a:r>
                        <a:rPr lang="en-US" dirty="0"/>
                        <a:t>100</a:t>
                      </a:r>
                      <a:endParaRPr lang="en-IN" dirty="0"/>
                    </a:p>
                  </a:txBody>
                  <a:tcPr/>
                </a:tc>
                <a:tc>
                  <a:txBody>
                    <a:bodyPr/>
                    <a:lstStyle/>
                    <a:p>
                      <a:r>
                        <a:rPr lang="en-US" dirty="0"/>
                        <a:t>140</a:t>
                      </a:r>
                      <a:endParaRPr lang="en-IN" dirty="0"/>
                    </a:p>
                  </a:txBody>
                  <a:tcPr/>
                </a:tc>
                <a:tc>
                  <a:txBody>
                    <a:bodyPr/>
                    <a:lstStyle/>
                    <a:p>
                      <a:r>
                        <a:rPr lang="en-US" dirty="0"/>
                        <a:t>170</a:t>
                      </a:r>
                      <a:endParaRPr lang="en-IN" dirty="0"/>
                    </a:p>
                  </a:txBody>
                  <a:tcPr/>
                </a:tc>
                <a:extLst>
                  <a:ext uri="{0D108BD9-81ED-4DB2-BD59-A6C34878D82A}">
                    <a16:rowId xmlns:a16="http://schemas.microsoft.com/office/drawing/2014/main" val="10002"/>
                  </a:ext>
                </a:extLst>
              </a:tr>
              <a:tr h="319418">
                <a:tc>
                  <a:txBody>
                    <a:bodyPr/>
                    <a:lstStyle/>
                    <a:p>
                      <a:r>
                        <a:rPr lang="en-US" dirty="0"/>
                        <a:t>MUSTARD</a:t>
                      </a:r>
                      <a:endParaRPr lang="en-IN" dirty="0"/>
                    </a:p>
                  </a:txBody>
                  <a:tcPr/>
                </a:tc>
                <a:tc>
                  <a:txBody>
                    <a:bodyPr/>
                    <a:lstStyle/>
                    <a:p>
                      <a:r>
                        <a:rPr lang="en-US" dirty="0"/>
                        <a:t>100</a:t>
                      </a:r>
                      <a:endParaRPr lang="en-IN" dirty="0"/>
                    </a:p>
                  </a:txBody>
                  <a:tcPr/>
                </a:tc>
                <a:tc>
                  <a:txBody>
                    <a:bodyPr/>
                    <a:lstStyle/>
                    <a:p>
                      <a:r>
                        <a:rPr lang="en-US" dirty="0"/>
                        <a:t>120</a:t>
                      </a:r>
                      <a:endParaRPr lang="en-IN" dirty="0"/>
                    </a:p>
                  </a:txBody>
                  <a:tcPr/>
                </a:tc>
                <a:tc>
                  <a:txBody>
                    <a:bodyPr/>
                    <a:lstStyle/>
                    <a:p>
                      <a:r>
                        <a:rPr lang="en-US" dirty="0"/>
                        <a:t>160</a:t>
                      </a:r>
                      <a:endParaRPr lang="en-IN" dirty="0"/>
                    </a:p>
                  </a:txBody>
                  <a:tcPr/>
                </a:tc>
                <a:tc>
                  <a:txBody>
                    <a:bodyPr/>
                    <a:lstStyle/>
                    <a:p>
                      <a:r>
                        <a:rPr lang="en-US" dirty="0"/>
                        <a:t>200</a:t>
                      </a:r>
                      <a:endParaRPr lang="en-IN" dirty="0"/>
                    </a:p>
                  </a:txBody>
                  <a:tcPr/>
                </a:tc>
                <a:extLst>
                  <a:ext uri="{0D108BD9-81ED-4DB2-BD59-A6C34878D82A}">
                    <a16:rowId xmlns:a16="http://schemas.microsoft.com/office/drawing/2014/main" val="10003"/>
                  </a:ext>
                </a:extLst>
              </a:tr>
              <a:tr h="319418">
                <a:tc>
                  <a:txBody>
                    <a:bodyPr/>
                    <a:lstStyle/>
                    <a:p>
                      <a:r>
                        <a:rPr lang="en-US" dirty="0"/>
                        <a:t>SOYBEAN</a:t>
                      </a:r>
                      <a:endParaRPr lang="en-IN" dirty="0"/>
                    </a:p>
                  </a:txBody>
                  <a:tcPr/>
                </a:tc>
                <a:tc>
                  <a:txBody>
                    <a:bodyPr/>
                    <a:lstStyle/>
                    <a:p>
                      <a:r>
                        <a:rPr lang="en-US" dirty="0"/>
                        <a:t>85</a:t>
                      </a:r>
                      <a:endParaRPr lang="en-IN" dirty="0"/>
                    </a:p>
                  </a:txBody>
                  <a:tcPr/>
                </a:tc>
                <a:tc>
                  <a:txBody>
                    <a:bodyPr/>
                    <a:lstStyle/>
                    <a:p>
                      <a:r>
                        <a:rPr lang="en-US" dirty="0"/>
                        <a:t>90</a:t>
                      </a:r>
                      <a:endParaRPr lang="en-IN" dirty="0"/>
                    </a:p>
                  </a:txBody>
                  <a:tcPr/>
                </a:tc>
                <a:tc>
                  <a:txBody>
                    <a:bodyPr/>
                    <a:lstStyle/>
                    <a:p>
                      <a:r>
                        <a:rPr lang="en-US" dirty="0"/>
                        <a:t>155</a:t>
                      </a:r>
                      <a:endParaRPr lang="en-IN" dirty="0"/>
                    </a:p>
                  </a:txBody>
                  <a:tcPr/>
                </a:tc>
                <a:tc>
                  <a:txBody>
                    <a:bodyPr/>
                    <a:lstStyle/>
                    <a:p>
                      <a:r>
                        <a:rPr lang="en-US" dirty="0"/>
                        <a:t>190</a:t>
                      </a:r>
                      <a:endParaRPr lang="en-IN" dirty="0"/>
                    </a:p>
                  </a:txBody>
                  <a:tcPr/>
                </a:tc>
                <a:extLst>
                  <a:ext uri="{0D108BD9-81ED-4DB2-BD59-A6C34878D82A}">
                    <a16:rowId xmlns:a16="http://schemas.microsoft.com/office/drawing/2014/main" val="10004"/>
                  </a:ext>
                </a:extLst>
              </a:tr>
              <a:tr h="545163">
                <a:tc>
                  <a:txBody>
                    <a:bodyPr/>
                    <a:lstStyle/>
                    <a:p>
                      <a:r>
                        <a:rPr lang="en-US" dirty="0"/>
                        <a:t>SUNFLOWER</a:t>
                      </a:r>
                      <a:endParaRPr lang="en-IN" dirty="0"/>
                    </a:p>
                  </a:txBody>
                  <a:tcPr/>
                </a:tc>
                <a:tc>
                  <a:txBody>
                    <a:bodyPr/>
                    <a:lstStyle/>
                    <a:p>
                      <a:r>
                        <a:rPr lang="en-US" dirty="0"/>
                        <a:t>100</a:t>
                      </a:r>
                      <a:endParaRPr lang="en-IN" dirty="0"/>
                    </a:p>
                  </a:txBody>
                  <a:tcPr/>
                </a:tc>
                <a:tc>
                  <a:txBody>
                    <a:bodyPr/>
                    <a:lstStyle/>
                    <a:p>
                      <a:r>
                        <a:rPr lang="en-US" dirty="0"/>
                        <a:t>110</a:t>
                      </a:r>
                      <a:endParaRPr lang="en-IN" dirty="0"/>
                    </a:p>
                  </a:txBody>
                  <a:tcPr/>
                </a:tc>
                <a:tc>
                  <a:txBody>
                    <a:bodyPr/>
                    <a:lstStyle/>
                    <a:p>
                      <a:r>
                        <a:rPr lang="en-US" dirty="0"/>
                        <a:t>145</a:t>
                      </a:r>
                      <a:endParaRPr lang="en-IN" dirty="0"/>
                    </a:p>
                  </a:txBody>
                  <a:tcPr/>
                </a:tc>
                <a:tc>
                  <a:txBody>
                    <a:bodyPr/>
                    <a:lstStyle/>
                    <a:p>
                      <a:r>
                        <a:rPr lang="en-US" dirty="0"/>
                        <a:t>192</a:t>
                      </a:r>
                      <a:endParaRPr lang="en-IN" dirty="0"/>
                    </a:p>
                  </a:txBody>
                  <a:tcPr/>
                </a:tc>
                <a:extLst>
                  <a:ext uri="{0D108BD9-81ED-4DB2-BD59-A6C34878D82A}">
                    <a16:rowId xmlns:a16="http://schemas.microsoft.com/office/drawing/2014/main" val="10005"/>
                  </a:ext>
                </a:extLst>
              </a:tr>
              <a:tr h="558981">
                <a:tc>
                  <a:txBody>
                    <a:bodyPr/>
                    <a:lstStyle/>
                    <a:p>
                      <a:r>
                        <a:rPr lang="en-US" dirty="0"/>
                        <a:t>GROUND-NUT</a:t>
                      </a:r>
                      <a:endParaRPr lang="en-IN" dirty="0"/>
                    </a:p>
                  </a:txBody>
                  <a:tcPr/>
                </a:tc>
                <a:tc>
                  <a:txBody>
                    <a:bodyPr/>
                    <a:lstStyle/>
                    <a:p>
                      <a:r>
                        <a:rPr lang="en-US" dirty="0"/>
                        <a:t>140</a:t>
                      </a:r>
                      <a:endParaRPr lang="en-IN" dirty="0"/>
                    </a:p>
                  </a:txBody>
                  <a:tcPr/>
                </a:tc>
                <a:tc>
                  <a:txBody>
                    <a:bodyPr/>
                    <a:lstStyle/>
                    <a:p>
                      <a:r>
                        <a:rPr lang="en-US" dirty="0"/>
                        <a:t>143</a:t>
                      </a:r>
                      <a:endParaRPr lang="en-IN" dirty="0"/>
                    </a:p>
                  </a:txBody>
                  <a:tcPr/>
                </a:tc>
                <a:tc>
                  <a:txBody>
                    <a:bodyPr/>
                    <a:lstStyle/>
                    <a:p>
                      <a:r>
                        <a:rPr lang="en-US" dirty="0"/>
                        <a:t>180</a:t>
                      </a:r>
                      <a:endParaRPr lang="en-IN" dirty="0"/>
                    </a:p>
                  </a:txBody>
                  <a:tcPr/>
                </a:tc>
                <a:tc>
                  <a:txBody>
                    <a:bodyPr/>
                    <a:lstStyle/>
                    <a:p>
                      <a:r>
                        <a:rPr lang="en-US" dirty="0"/>
                        <a:t>190</a:t>
                      </a:r>
                      <a:endParaRPr lang="en-IN" dirty="0"/>
                    </a:p>
                  </a:txBody>
                  <a:tcPr/>
                </a:tc>
                <a:extLst>
                  <a:ext uri="{0D108BD9-81ED-4DB2-BD59-A6C34878D82A}">
                    <a16:rowId xmlns:a16="http://schemas.microsoft.com/office/drawing/2014/main" val="10006"/>
                  </a:ext>
                </a:extLst>
              </a:tr>
            </a:tbl>
          </a:graphicData>
        </a:graphic>
      </p:graphicFrame>
      <p:sp>
        <p:nvSpPr>
          <p:cNvPr id="7" name="TextBox 6"/>
          <p:cNvSpPr txBox="1"/>
          <p:nvPr/>
        </p:nvSpPr>
        <p:spPr>
          <a:xfrm>
            <a:off x="233081" y="3953436"/>
            <a:ext cx="2913531" cy="646331"/>
          </a:xfrm>
          <a:prstGeom prst="rect">
            <a:avLst/>
          </a:prstGeom>
          <a:noFill/>
        </p:spPr>
        <p:txBody>
          <a:bodyPr wrap="square" rtlCol="0">
            <a:spAutoFit/>
          </a:bodyPr>
          <a:lstStyle/>
          <a:p>
            <a:r>
              <a:rPr lang="en-US" dirty="0"/>
              <a:t>PRICES OF EDIBLE OIL IN INDIA (VALUES IN RS/Kg).</a:t>
            </a:r>
            <a:endParaRPr lang="en-IN" dirty="0"/>
          </a:p>
        </p:txBody>
      </p:sp>
      <p:sp>
        <p:nvSpPr>
          <p:cNvPr id="8" name="Arrow: Down 7"/>
          <p:cNvSpPr/>
          <p:nvPr/>
        </p:nvSpPr>
        <p:spPr>
          <a:xfrm>
            <a:off x="1479176" y="4599767"/>
            <a:ext cx="394448" cy="61769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p:cNvSpPr/>
          <p:nvPr/>
        </p:nvSpPr>
        <p:spPr>
          <a:xfrm>
            <a:off x="2164976" y="4935944"/>
            <a:ext cx="609600" cy="3765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4470" y="206188"/>
            <a:ext cx="5558118" cy="523220"/>
          </a:xfrm>
          <a:prstGeom prst="rect">
            <a:avLst/>
          </a:prstGeom>
          <a:noFill/>
        </p:spPr>
        <p:txBody>
          <a:bodyPr wrap="square" rtlCol="0">
            <a:spAutoFit/>
          </a:bodyPr>
          <a:lstStyle/>
          <a:p>
            <a:r>
              <a:rPr lang="en-IN" sz="2800" b="1" dirty="0">
                <a:latin typeface="Adobe Heiti Std R" panose="020B0400000000000000" pitchFamily="34" charset="-128"/>
                <a:ea typeface="Adobe Heiti Std R" panose="020B0400000000000000" pitchFamily="34" charset="-128"/>
              </a:rPr>
              <a:t>LITERATURE REVIEW </a:t>
            </a:r>
          </a:p>
        </p:txBody>
      </p:sp>
      <p:sp>
        <p:nvSpPr>
          <p:cNvPr id="4" name="TextBox 3"/>
          <p:cNvSpPr txBox="1"/>
          <p:nvPr/>
        </p:nvSpPr>
        <p:spPr>
          <a:xfrm>
            <a:off x="591671" y="1021976"/>
            <a:ext cx="10148047" cy="5355312"/>
          </a:xfrm>
          <a:prstGeom prst="rect">
            <a:avLst/>
          </a:prstGeom>
          <a:noFill/>
        </p:spPr>
        <p:txBody>
          <a:bodyPr wrap="square" rtlCol="0">
            <a:spAutoFit/>
          </a:bodyPr>
          <a:lstStyle/>
          <a:p>
            <a:pPr algn="just"/>
            <a:r>
              <a:rPr lang="en-US" dirty="0"/>
              <a:t>S.L.Sinha And R.K.Yadav (2010) investigated, the bio-diesel produced from the jatropha seeds have been considered as a potential alternative for running the compression ignition engines. The different blends of bio-diesel and conventional diesel have been tested on the engine. It has been observed that 20% of jatropha oil can be substituted for diesel without any engine modification and preheating of the blends. The level of hydrocarbon emission and noise level have been found to be reduced with the use of more bio-diesel content.</a:t>
            </a:r>
          </a:p>
          <a:p>
            <a:endParaRPr lang="en-US" dirty="0"/>
          </a:p>
          <a:p>
            <a:pPr algn="just"/>
            <a:r>
              <a:rPr lang="en-US" dirty="0"/>
              <a:t>G Lakshmi Narayana Rao ,S Sampath, and K Rajagopal (2008);Transesterified vegetable oils (biodiesel) are promising alternative fuel for diesel engines. Used vegetable oils are disposed from restaurants in large quantities. But higher viscosity restricts their direct use in diesel engines. In this study, used cooking oil was dehydrated and then </a:t>
            </a:r>
            <a:r>
              <a:rPr lang="en-US" dirty="0" err="1"/>
              <a:t>transesterified</a:t>
            </a:r>
            <a:r>
              <a:rPr lang="en-US" dirty="0"/>
              <a:t> using an alkaline catalyst. The combustion, performance and emission characteristics of Used Cooking oil Methyl Ester (UCME) and its blends with diesel oil are analyzed in a direct injection C.I. engine. The fuel properties and the combustion characteristics of UCME are found to be similar to those of diesel. A minor decrease in thermal efficiency with significant improvement in reduction of particulates, carbon monoxide and unburnt hydrocarbons is observed compared to diesel.</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07458" y="1407459"/>
            <a:ext cx="9995647" cy="4801314"/>
          </a:xfrm>
          <a:prstGeom prst="rect">
            <a:avLst/>
          </a:prstGeom>
          <a:noFill/>
        </p:spPr>
        <p:txBody>
          <a:bodyPr wrap="square" rtlCol="0">
            <a:spAutoFit/>
          </a:bodyPr>
          <a:lstStyle/>
          <a:p>
            <a:pPr algn="just"/>
            <a:r>
              <a:rPr lang="en-IN" dirty="0"/>
              <a:t>V P Sethi, K S Salariya (2004) research on a 4-stroke 5 hp diesel engine was tested with two different fuel blends. In the first case, diesel kerosene blends (with 10% to 40% kerosene blending by volume) and in the second case, air-liquefied petroleum gas (LPG) mixture (15% to 25 % LPG mixing by volume) along with diesel was tested at constant engine speed of 1700 rpm. Different engine exhaust emissions CO2 , CO, HC,SO2, NOx were compared using pure diesel, diesel-kerosene blends and air-LPG mixtures.</a:t>
            </a:r>
          </a:p>
          <a:p>
            <a:pPr algn="just"/>
            <a:endParaRPr lang="en-IN" dirty="0"/>
          </a:p>
          <a:p>
            <a:pPr algn="just"/>
            <a:r>
              <a:rPr lang="en-US" dirty="0"/>
              <a:t>N.R. Banapurmatha A, P.G. Tewaria A, R.S. Hosmath B (2008) described the best way to use vegetable oils as fuel in compression ignition (CI) engines is to convert it into bio-diesel. Biodiesel can be used in CI engines with very little or no engine modifications. This is because it has properties similar to mineral diesel. They presents the results of investigations carried out on a single-cylinder, four stroke, direct-injection, CI engine operated with methyl esters of Honge oil, Jatropha oil and sesame oil. Comparative measures of brake thermal efficiency, smoke opacity, HC, CO, NOX, ignition delay, combustion duration and heat release rates have been presented and discussed.</a:t>
            </a:r>
            <a:endParaRPr lang="en-IN" dirty="0"/>
          </a:p>
          <a:p>
            <a:endParaRPr lang="en-IN" dirty="0"/>
          </a:p>
        </p:txBody>
      </p:sp>
      <p:sp>
        <p:nvSpPr>
          <p:cNvPr id="4" name="TextBox 3"/>
          <p:cNvSpPr txBox="1"/>
          <p:nvPr/>
        </p:nvSpPr>
        <p:spPr>
          <a:xfrm>
            <a:off x="233082" y="179295"/>
            <a:ext cx="3621741" cy="523220"/>
          </a:xfrm>
          <a:prstGeom prst="rect">
            <a:avLst/>
          </a:prstGeom>
          <a:noFill/>
        </p:spPr>
        <p:txBody>
          <a:bodyPr wrap="square" rtlCol="0">
            <a:spAutoFit/>
          </a:bodyPr>
          <a:lstStyle/>
          <a:p>
            <a:r>
              <a:rPr lang="en-IN" sz="2800" b="1" dirty="0">
                <a:latin typeface="Adobe Heiti Std R" panose="020B0400000000000000" pitchFamily="34" charset="-128"/>
                <a:ea typeface="Adobe Heiti Std R" panose="020B0400000000000000" pitchFamily="34" charset="-128"/>
              </a:rPr>
              <a:t>LITERATURE REVIEW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3083" y="259977"/>
            <a:ext cx="3971365" cy="523220"/>
          </a:xfrm>
          <a:prstGeom prst="rect">
            <a:avLst/>
          </a:prstGeom>
          <a:noFill/>
        </p:spPr>
        <p:txBody>
          <a:bodyPr wrap="square" rtlCol="0">
            <a:spAutoFit/>
          </a:bodyPr>
          <a:lstStyle/>
          <a:p>
            <a:r>
              <a:rPr lang="en-IN" sz="2800" b="1" dirty="0">
                <a:latin typeface="Adobe Heiti Std R" panose="020B0400000000000000" pitchFamily="34" charset="-128"/>
                <a:ea typeface="Adobe Heiti Std R" panose="020B0400000000000000" pitchFamily="34" charset="-128"/>
              </a:rPr>
              <a:t>SCOPE OF THE WORK</a:t>
            </a:r>
          </a:p>
        </p:txBody>
      </p:sp>
      <p:sp>
        <p:nvSpPr>
          <p:cNvPr id="5" name="Arrow: Right 4"/>
          <p:cNvSpPr/>
          <p:nvPr/>
        </p:nvSpPr>
        <p:spPr>
          <a:xfrm>
            <a:off x="654424" y="1878328"/>
            <a:ext cx="358588" cy="233082"/>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6" name="TextBox 5"/>
          <p:cNvSpPr txBox="1"/>
          <p:nvPr/>
        </p:nvSpPr>
        <p:spPr>
          <a:xfrm>
            <a:off x="1013012" y="1786188"/>
            <a:ext cx="9681883" cy="369332"/>
          </a:xfrm>
          <a:prstGeom prst="rect">
            <a:avLst/>
          </a:prstGeom>
          <a:noFill/>
        </p:spPr>
        <p:txBody>
          <a:bodyPr wrap="square" rtlCol="0">
            <a:spAutoFit/>
          </a:bodyPr>
          <a:lstStyle/>
          <a:p>
            <a:r>
              <a:rPr lang="en-US" dirty="0"/>
              <a:t>Feasibility study about production and utilization of Bio fuels in automotive sector.</a:t>
            </a:r>
            <a:endParaRPr lang="en-IN" dirty="0"/>
          </a:p>
        </p:txBody>
      </p:sp>
      <p:sp>
        <p:nvSpPr>
          <p:cNvPr id="7" name="Arrow: Right 6"/>
          <p:cNvSpPr/>
          <p:nvPr/>
        </p:nvSpPr>
        <p:spPr>
          <a:xfrm>
            <a:off x="654424" y="2787200"/>
            <a:ext cx="358588" cy="23308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8" name="TextBox 7"/>
          <p:cNvSpPr txBox="1"/>
          <p:nvPr/>
        </p:nvSpPr>
        <p:spPr>
          <a:xfrm>
            <a:off x="1013012" y="2732508"/>
            <a:ext cx="10246660" cy="646331"/>
          </a:xfrm>
          <a:prstGeom prst="rect">
            <a:avLst/>
          </a:prstGeom>
          <a:noFill/>
        </p:spPr>
        <p:txBody>
          <a:bodyPr wrap="square" rtlCol="0">
            <a:spAutoFit/>
          </a:bodyPr>
          <a:lstStyle/>
          <a:p>
            <a:r>
              <a:rPr lang="en-US" dirty="0"/>
              <a:t>Biodiesel production in a lab from waste cooking oil(Palm oil) and testing its chemical properties.</a:t>
            </a:r>
            <a:endParaRPr lang="en-IN" dirty="0"/>
          </a:p>
        </p:txBody>
      </p:sp>
      <p:sp>
        <p:nvSpPr>
          <p:cNvPr id="11" name="Arrow: Right 10"/>
          <p:cNvSpPr/>
          <p:nvPr/>
        </p:nvSpPr>
        <p:spPr>
          <a:xfrm>
            <a:off x="654424" y="3673759"/>
            <a:ext cx="358588" cy="23308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12" name="TextBox 11"/>
          <p:cNvSpPr txBox="1"/>
          <p:nvPr/>
        </p:nvSpPr>
        <p:spPr>
          <a:xfrm>
            <a:off x="1013012" y="3576961"/>
            <a:ext cx="9968754" cy="369332"/>
          </a:xfrm>
          <a:prstGeom prst="rect">
            <a:avLst/>
          </a:prstGeom>
          <a:noFill/>
        </p:spPr>
        <p:txBody>
          <a:bodyPr wrap="square" rtlCol="0">
            <a:spAutoFit/>
          </a:bodyPr>
          <a:lstStyle/>
          <a:p>
            <a:r>
              <a:rPr lang="en-US" dirty="0"/>
              <a:t>Blending biodiesel with diesel in different proportions to analyse the cost effectiveness.</a:t>
            </a:r>
            <a:endParaRPr lang="en-IN" dirty="0"/>
          </a:p>
        </p:txBody>
      </p:sp>
      <p:sp>
        <p:nvSpPr>
          <p:cNvPr id="13" name="Arrow: Right 12"/>
          <p:cNvSpPr/>
          <p:nvPr/>
        </p:nvSpPr>
        <p:spPr>
          <a:xfrm>
            <a:off x="654424" y="4638346"/>
            <a:ext cx="358588" cy="23308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14" name="TextBox 13"/>
          <p:cNvSpPr txBox="1"/>
          <p:nvPr/>
        </p:nvSpPr>
        <p:spPr>
          <a:xfrm>
            <a:off x="945777" y="4560318"/>
            <a:ext cx="10103224" cy="923330"/>
          </a:xfrm>
          <a:prstGeom prst="rect">
            <a:avLst/>
          </a:prstGeom>
          <a:noFill/>
        </p:spPr>
        <p:txBody>
          <a:bodyPr wrap="square" rtlCol="0">
            <a:spAutoFit/>
          </a:bodyPr>
          <a:lstStyle/>
          <a:p>
            <a:r>
              <a:rPr lang="en-US" dirty="0"/>
              <a:t>Using the blended diesel in a 4Stroke Diesel Engine to measure the Brake Power(BP), Brake specific fuel consumption(BSFC), Fuel consumption(FC) and exhaust gas temperature.</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295" y="188260"/>
            <a:ext cx="4401671" cy="523220"/>
          </a:xfrm>
          <a:prstGeom prst="rect">
            <a:avLst/>
          </a:prstGeom>
          <a:noFill/>
        </p:spPr>
        <p:txBody>
          <a:bodyPr wrap="square" rtlCol="0">
            <a:spAutoFit/>
          </a:bodyPr>
          <a:lstStyle/>
          <a:p>
            <a:r>
              <a:rPr lang="en-IN" sz="2800" b="1" dirty="0">
                <a:latin typeface="Adobe Heiti Std R" panose="020B0400000000000000" pitchFamily="34" charset="-128"/>
                <a:ea typeface="Adobe Heiti Std R" panose="020B0400000000000000" pitchFamily="34" charset="-128"/>
              </a:rPr>
              <a:t>PRESENT WORK</a:t>
            </a:r>
          </a:p>
        </p:txBody>
      </p:sp>
      <p:sp>
        <p:nvSpPr>
          <p:cNvPr id="3" name="TextBox 2"/>
          <p:cNvSpPr txBox="1"/>
          <p:nvPr/>
        </p:nvSpPr>
        <p:spPr>
          <a:xfrm>
            <a:off x="179295" y="630842"/>
            <a:ext cx="5136777" cy="369332"/>
          </a:xfrm>
          <a:prstGeom prst="rect">
            <a:avLst/>
          </a:prstGeom>
          <a:noFill/>
        </p:spPr>
        <p:txBody>
          <a:bodyPr wrap="square" rtlCol="0">
            <a:spAutoFit/>
          </a:bodyPr>
          <a:lstStyle/>
          <a:p>
            <a:r>
              <a:rPr lang="en-IN" b="1" u="sng" dirty="0">
                <a:latin typeface="Arial Black" panose="020B0A04020102020204" pitchFamily="34" charset="0"/>
                <a:ea typeface="Adobe Song Std L" panose="02020300000000000000" pitchFamily="18" charset="-128"/>
              </a:rPr>
              <a:t>PROCEDURE OF MAKING BIO-DIESEL</a:t>
            </a:r>
          </a:p>
        </p:txBody>
      </p:sp>
      <p:sp>
        <p:nvSpPr>
          <p:cNvPr id="4" name="TextBox 3"/>
          <p:cNvSpPr txBox="1"/>
          <p:nvPr/>
        </p:nvSpPr>
        <p:spPr>
          <a:xfrm>
            <a:off x="119974" y="1060204"/>
            <a:ext cx="6463553" cy="5509200"/>
          </a:xfrm>
          <a:prstGeom prst="rect">
            <a:avLst/>
          </a:prstGeom>
          <a:noFill/>
        </p:spPr>
        <p:txBody>
          <a:bodyPr wrap="square" rtlCol="0">
            <a:spAutoFit/>
          </a:bodyPr>
          <a:lstStyle/>
          <a:p>
            <a:r>
              <a:rPr lang="en-IN" sz="1600" b="1" dirty="0"/>
              <a:t>Step 1</a:t>
            </a:r>
            <a:r>
              <a:rPr lang="en-IN" dirty="0"/>
              <a:t>:- </a:t>
            </a:r>
            <a:r>
              <a:rPr lang="en-IN" dirty="0">
                <a:solidFill>
                  <a:srgbClr val="FF0000"/>
                </a:solidFill>
              </a:rPr>
              <a:t>Filtration and Storing of Waste Cooking oil.</a:t>
            </a:r>
          </a:p>
          <a:p>
            <a:pPr algn="just"/>
            <a:r>
              <a:rPr lang="en-US" dirty="0">
                <a:solidFill>
                  <a:srgbClr val="FFFF00"/>
                </a:solidFill>
              </a:rPr>
              <a:t>The raw waste cooking oil (Palm Oil) was taken and filtered using a cloth to remove the impurities present. The filtered oil was stored in a large glass bottle.</a:t>
            </a:r>
          </a:p>
          <a:p>
            <a:pPr algn="just"/>
            <a:endParaRPr lang="en-IN" dirty="0">
              <a:solidFill>
                <a:srgbClr val="FFFF00"/>
              </a:solidFill>
            </a:endParaRPr>
          </a:p>
          <a:p>
            <a:r>
              <a:rPr lang="en-IN" sz="1600" b="1" dirty="0"/>
              <a:t>Step 2:- </a:t>
            </a:r>
            <a:r>
              <a:rPr lang="en-IN" dirty="0">
                <a:solidFill>
                  <a:srgbClr val="FF0000"/>
                </a:solidFill>
              </a:rPr>
              <a:t>Preparation of Samples</a:t>
            </a:r>
            <a:r>
              <a:rPr lang="en-IN" sz="1600" dirty="0">
                <a:solidFill>
                  <a:srgbClr val="FF0000"/>
                </a:solidFill>
              </a:rPr>
              <a:t>.</a:t>
            </a:r>
          </a:p>
          <a:p>
            <a:pPr algn="just"/>
            <a:r>
              <a:rPr lang="en-US" dirty="0">
                <a:solidFill>
                  <a:srgbClr val="FFFF00"/>
                </a:solidFill>
              </a:rPr>
              <a:t>A total of 4 samples were produced using different proportions of waste cooking oil( Palm oil) and Methanol using the process of Transesterification using Sodium hydroxide as a catalyst.</a:t>
            </a:r>
          </a:p>
          <a:p>
            <a:pPr algn="just"/>
            <a:endParaRPr lang="en-US" dirty="0">
              <a:solidFill>
                <a:srgbClr val="FFFF00"/>
              </a:solidFill>
            </a:endParaRPr>
          </a:p>
          <a:p>
            <a:pPr algn="just"/>
            <a:r>
              <a:rPr lang="en-IN" sz="1400" dirty="0">
                <a:solidFill>
                  <a:srgbClr val="FFFF00"/>
                </a:solidFill>
              </a:rPr>
              <a:t>Sample 1- Palm Oil(40ml)+ Methanol(60ml) + Catalyst NaOH (5mg) mixed in distilled water.</a:t>
            </a:r>
          </a:p>
          <a:p>
            <a:pPr algn="just"/>
            <a:endParaRPr lang="en-IN" sz="1400" dirty="0">
              <a:solidFill>
                <a:srgbClr val="FFFF00"/>
              </a:solidFill>
            </a:endParaRPr>
          </a:p>
          <a:p>
            <a:pPr algn="just"/>
            <a:r>
              <a:rPr lang="en-IN" sz="1400" dirty="0">
                <a:solidFill>
                  <a:srgbClr val="FFFF00"/>
                </a:solidFill>
              </a:rPr>
              <a:t>Sample 2- Palm Oil(50ml)+ Methanol(50ml) + Catalyst NaOH (5mg) mixed in distilled water.</a:t>
            </a:r>
          </a:p>
          <a:p>
            <a:pPr algn="just"/>
            <a:endParaRPr lang="en-IN" sz="1400" dirty="0">
              <a:solidFill>
                <a:srgbClr val="FFFF00"/>
              </a:solidFill>
            </a:endParaRPr>
          </a:p>
          <a:p>
            <a:pPr algn="just"/>
            <a:r>
              <a:rPr lang="en-IN" sz="1400" dirty="0">
                <a:solidFill>
                  <a:srgbClr val="FFFF00"/>
                </a:solidFill>
              </a:rPr>
              <a:t>Sample 3- Palm Oil(60ml)+ Methanol(40ml) + Catalyst NaOH (5mg) mixed in distilled water.</a:t>
            </a:r>
          </a:p>
          <a:p>
            <a:pPr algn="just"/>
            <a:endParaRPr lang="en-IN" sz="1400" dirty="0">
              <a:solidFill>
                <a:srgbClr val="FFFF00"/>
              </a:solidFill>
            </a:endParaRPr>
          </a:p>
          <a:p>
            <a:pPr algn="just"/>
            <a:r>
              <a:rPr lang="en-IN" sz="1400" dirty="0">
                <a:solidFill>
                  <a:srgbClr val="FFFF00"/>
                </a:solidFill>
              </a:rPr>
              <a:t>Sample 4- Palm Oil(70ml)+ Methanol(30ml) + Catalyst NaOH (5mg) mixed in distilled water.</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3214" y="411706"/>
            <a:ext cx="2239832" cy="2949388"/>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63863" y="411706"/>
            <a:ext cx="2213424" cy="2949388"/>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83214" y="3637834"/>
            <a:ext cx="2239832" cy="3031907"/>
          </a:xfrm>
          <a:prstGeom prst="rect">
            <a:avLst/>
          </a:prstGeom>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63863" y="3637834"/>
            <a:ext cx="2213424" cy="3031907"/>
          </a:xfrm>
          <a:prstGeom prst="rect">
            <a:avLst/>
          </a:prstGeom>
        </p:spPr>
      </p:pic>
      <p:sp>
        <p:nvSpPr>
          <p:cNvPr id="16" name="TextBox 15"/>
          <p:cNvSpPr txBox="1"/>
          <p:nvPr/>
        </p:nvSpPr>
        <p:spPr>
          <a:xfrm>
            <a:off x="7083214" y="3089361"/>
            <a:ext cx="869577" cy="261610"/>
          </a:xfrm>
          <a:prstGeom prst="rect">
            <a:avLst/>
          </a:prstGeom>
          <a:noFill/>
        </p:spPr>
        <p:txBody>
          <a:bodyPr wrap="square" rtlCol="0">
            <a:spAutoFit/>
          </a:bodyPr>
          <a:lstStyle/>
          <a:p>
            <a:r>
              <a:rPr lang="en-IN" sz="1100" dirty="0"/>
              <a:t>Filtration </a:t>
            </a:r>
          </a:p>
        </p:txBody>
      </p:sp>
      <p:sp>
        <p:nvSpPr>
          <p:cNvPr id="17" name="TextBox 16"/>
          <p:cNvSpPr txBox="1"/>
          <p:nvPr/>
        </p:nvSpPr>
        <p:spPr>
          <a:xfrm>
            <a:off x="9563863" y="3110285"/>
            <a:ext cx="1713737" cy="261610"/>
          </a:xfrm>
          <a:prstGeom prst="rect">
            <a:avLst/>
          </a:prstGeom>
          <a:noFill/>
        </p:spPr>
        <p:txBody>
          <a:bodyPr wrap="square" rtlCol="0">
            <a:spAutoFit/>
          </a:bodyPr>
          <a:lstStyle/>
          <a:p>
            <a:r>
              <a:rPr lang="en-IN" sz="1100" dirty="0"/>
              <a:t>Storing of Filtered oil</a:t>
            </a:r>
          </a:p>
        </p:txBody>
      </p:sp>
      <p:sp>
        <p:nvSpPr>
          <p:cNvPr id="18" name="TextBox 17"/>
          <p:cNvSpPr txBox="1"/>
          <p:nvPr/>
        </p:nvSpPr>
        <p:spPr>
          <a:xfrm>
            <a:off x="7083214" y="6446294"/>
            <a:ext cx="2213424" cy="246221"/>
          </a:xfrm>
          <a:prstGeom prst="rect">
            <a:avLst/>
          </a:prstGeom>
          <a:noFill/>
        </p:spPr>
        <p:txBody>
          <a:bodyPr wrap="square" rtlCol="0">
            <a:spAutoFit/>
          </a:bodyPr>
          <a:lstStyle/>
          <a:p>
            <a:r>
              <a:rPr lang="en-IN" sz="1000" b="1" dirty="0"/>
              <a:t>Weight measurement of Catalyst</a:t>
            </a:r>
          </a:p>
        </p:txBody>
      </p:sp>
      <p:sp>
        <p:nvSpPr>
          <p:cNvPr id="19" name="TextBox 18"/>
          <p:cNvSpPr txBox="1"/>
          <p:nvPr/>
        </p:nvSpPr>
        <p:spPr>
          <a:xfrm>
            <a:off x="9563863" y="6421124"/>
            <a:ext cx="1525478" cy="246221"/>
          </a:xfrm>
          <a:prstGeom prst="rect">
            <a:avLst/>
          </a:prstGeom>
          <a:noFill/>
        </p:spPr>
        <p:txBody>
          <a:bodyPr wrap="square" rtlCol="0">
            <a:spAutoFit/>
          </a:bodyPr>
          <a:lstStyle/>
          <a:p>
            <a:r>
              <a:rPr lang="en-IN" sz="1000" b="1" dirty="0"/>
              <a:t>Heating of mixture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3412" y="197223"/>
            <a:ext cx="3908612" cy="523220"/>
          </a:xfrm>
          <a:prstGeom prst="rect">
            <a:avLst/>
          </a:prstGeom>
          <a:noFill/>
        </p:spPr>
        <p:txBody>
          <a:bodyPr wrap="square" rtlCol="0">
            <a:spAutoFit/>
          </a:bodyPr>
          <a:lstStyle/>
          <a:p>
            <a:r>
              <a:rPr lang="en-IN" sz="2800" b="1" dirty="0">
                <a:latin typeface="Adobe Heiti Std R" panose="020B0400000000000000" pitchFamily="34" charset="-128"/>
                <a:ea typeface="Adobe Heiti Std R" panose="020B0400000000000000" pitchFamily="34" charset="-128"/>
              </a:rPr>
              <a:t>PRESENT WORK </a:t>
            </a:r>
          </a:p>
        </p:txBody>
      </p:sp>
      <p:sp>
        <p:nvSpPr>
          <p:cNvPr id="5" name="TextBox 4"/>
          <p:cNvSpPr txBox="1"/>
          <p:nvPr/>
        </p:nvSpPr>
        <p:spPr>
          <a:xfrm>
            <a:off x="403412" y="977153"/>
            <a:ext cx="6391835" cy="3139321"/>
          </a:xfrm>
          <a:prstGeom prst="rect">
            <a:avLst/>
          </a:prstGeom>
          <a:noFill/>
        </p:spPr>
        <p:txBody>
          <a:bodyPr wrap="square" rtlCol="0">
            <a:spAutoFit/>
          </a:bodyPr>
          <a:lstStyle/>
          <a:p>
            <a:pPr algn="just"/>
            <a:r>
              <a:rPr lang="en-IN" b="1" dirty="0"/>
              <a:t>Step 3:-</a:t>
            </a:r>
            <a:r>
              <a:rPr lang="en-IN" dirty="0"/>
              <a:t> </a:t>
            </a:r>
            <a:r>
              <a:rPr lang="en-IN" dirty="0">
                <a:solidFill>
                  <a:srgbClr val="FF0000"/>
                </a:solidFill>
              </a:rPr>
              <a:t>Separation of Bio-Diesel</a:t>
            </a:r>
          </a:p>
          <a:p>
            <a:pPr algn="just"/>
            <a:endParaRPr lang="en-IN" dirty="0">
              <a:solidFill>
                <a:srgbClr val="FF0000"/>
              </a:solidFill>
            </a:endParaRPr>
          </a:p>
          <a:p>
            <a:pPr algn="just"/>
            <a:r>
              <a:rPr lang="en-US" dirty="0">
                <a:solidFill>
                  <a:srgbClr val="FFFF00"/>
                </a:solidFill>
              </a:rPr>
              <a:t>After 24hours 2 clear layers can be seen the top part was composed of free fatty acid methyl esters (BIODIESEL). The bottom deposit was made up of glycerol ,salts ,soap and other impurities. The contents of the beaker were transferred into a separating funnel and allowed to settle. After some time they were separated and kept in two bottles for further testing.</a:t>
            </a:r>
          </a:p>
          <a:p>
            <a:pPr algn="just"/>
            <a:endParaRPr lang="en-IN" dirty="0">
              <a:solidFill>
                <a:srgbClr val="FFFF00"/>
              </a:solidFill>
            </a:endParaRPr>
          </a:p>
          <a:p>
            <a:pPr algn="just"/>
            <a:endParaRPr lang="en-US" dirty="0">
              <a:solidFill>
                <a:srgbClr val="FFFF00"/>
              </a:soli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52330" y="3742080"/>
            <a:ext cx="2841812" cy="291869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66869" y="342302"/>
            <a:ext cx="2212733" cy="3105464"/>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3412" y="3748747"/>
            <a:ext cx="3085410" cy="2912029"/>
          </a:xfrm>
          <a:prstGeom prst="rect">
            <a:avLst/>
          </a:prstGeom>
        </p:spPr>
      </p:pic>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59623" y="3748747"/>
            <a:ext cx="3872753" cy="29045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1693" y="215153"/>
            <a:ext cx="4536141" cy="523220"/>
          </a:xfrm>
          <a:prstGeom prst="rect">
            <a:avLst/>
          </a:prstGeom>
          <a:noFill/>
        </p:spPr>
        <p:txBody>
          <a:bodyPr wrap="square" rtlCol="0">
            <a:spAutoFit/>
          </a:bodyPr>
          <a:lstStyle/>
          <a:p>
            <a:r>
              <a:rPr lang="en-IN" sz="2800" b="1" dirty="0">
                <a:latin typeface="Adobe Heiti Std R" panose="020B0400000000000000" pitchFamily="34" charset="-128"/>
                <a:ea typeface="Adobe Heiti Std R" panose="020B0400000000000000" pitchFamily="34" charset="-128"/>
              </a:rPr>
              <a:t>PRESENT WORK </a:t>
            </a:r>
          </a:p>
        </p:txBody>
      </p:sp>
      <p:sp>
        <p:nvSpPr>
          <p:cNvPr id="3" name="TextBox 2"/>
          <p:cNvSpPr txBox="1"/>
          <p:nvPr/>
        </p:nvSpPr>
        <p:spPr>
          <a:xfrm>
            <a:off x="439271" y="1361532"/>
            <a:ext cx="3621741" cy="461665"/>
          </a:xfrm>
          <a:prstGeom prst="rect">
            <a:avLst/>
          </a:prstGeom>
          <a:noFill/>
        </p:spPr>
        <p:txBody>
          <a:bodyPr wrap="square" rtlCol="0">
            <a:spAutoFit/>
          </a:bodyPr>
          <a:lstStyle/>
          <a:p>
            <a:r>
              <a:rPr lang="en-IN" sz="2400" b="1" u="sng" dirty="0">
                <a:latin typeface="Arial Black" panose="020B0A04020102020204" pitchFamily="34" charset="0"/>
              </a:rPr>
              <a:t>Property Testing </a:t>
            </a:r>
          </a:p>
        </p:txBody>
      </p:sp>
      <p:sp>
        <p:nvSpPr>
          <p:cNvPr id="4" name="TextBox 3"/>
          <p:cNvSpPr txBox="1"/>
          <p:nvPr/>
        </p:nvSpPr>
        <p:spPr>
          <a:xfrm>
            <a:off x="439271" y="1964536"/>
            <a:ext cx="5199530" cy="3415030"/>
          </a:xfrm>
          <a:prstGeom prst="rect">
            <a:avLst/>
          </a:prstGeom>
          <a:noFill/>
        </p:spPr>
        <p:txBody>
          <a:bodyPr wrap="square" rtlCol="0">
            <a:spAutoFit/>
          </a:bodyPr>
          <a:lstStyle/>
          <a:p>
            <a:pPr algn="just"/>
            <a:r>
              <a:rPr lang="en-US" dirty="0">
                <a:solidFill>
                  <a:srgbClr val="FFFF00"/>
                </a:solidFill>
              </a:rPr>
              <a:t>The Calorific value of the prepared bio-diesel was tested using Bomb Calorimeter and the Specific Gravity was calculated using a hydrometer. The Cetane Number of the sample was calculated in a lab.</a:t>
            </a:r>
          </a:p>
          <a:p>
            <a:pPr algn="just"/>
            <a:endParaRPr lang="en-US" dirty="0"/>
          </a:p>
          <a:p>
            <a:pPr algn="just"/>
            <a:r>
              <a:rPr lang="en-US" dirty="0">
                <a:solidFill>
                  <a:srgbClr val="FFFF00"/>
                </a:solidFill>
              </a:rPr>
              <a:t>Calorific Value of Sample - 8145 kcal/kg = 34078 kJ/kg.</a:t>
            </a:r>
          </a:p>
          <a:p>
            <a:pPr algn="just"/>
            <a:endParaRPr lang="en-US" dirty="0">
              <a:solidFill>
                <a:srgbClr val="FFFF00"/>
              </a:solidFill>
            </a:endParaRPr>
          </a:p>
          <a:p>
            <a:pPr algn="just"/>
            <a:r>
              <a:rPr lang="en-US" dirty="0">
                <a:solidFill>
                  <a:srgbClr val="FFFF00"/>
                </a:solidFill>
              </a:rPr>
              <a:t>Cetane Value of Sample- 49.</a:t>
            </a:r>
          </a:p>
          <a:p>
            <a:pPr algn="just"/>
            <a:endParaRPr lang="en-US" dirty="0">
              <a:solidFill>
                <a:srgbClr val="FFFF00"/>
              </a:solidFill>
            </a:endParaRPr>
          </a:p>
          <a:p>
            <a:pPr algn="just"/>
            <a:r>
              <a:rPr lang="en-US" dirty="0">
                <a:solidFill>
                  <a:srgbClr val="FFFF00"/>
                </a:solidFill>
              </a:rPr>
              <a:t>Specific Gravity of Sample: 0.8610.</a:t>
            </a:r>
            <a:endParaRPr lang="en-IN" dirty="0">
              <a:solidFill>
                <a:srgbClr val="FFFF00"/>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09011" y="419101"/>
            <a:ext cx="3744258" cy="2808193"/>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9011" y="3504293"/>
            <a:ext cx="3744258" cy="3199129"/>
          </a:xfrm>
          <a:prstGeom prst="rect">
            <a:avLst/>
          </a:prstGeom>
        </p:spPr>
      </p:pic>
      <p:sp>
        <p:nvSpPr>
          <p:cNvPr id="11" name="TextBox 10"/>
          <p:cNvSpPr txBox="1"/>
          <p:nvPr/>
        </p:nvSpPr>
        <p:spPr>
          <a:xfrm>
            <a:off x="7109011" y="2950295"/>
            <a:ext cx="2088777" cy="276999"/>
          </a:xfrm>
          <a:prstGeom prst="rect">
            <a:avLst/>
          </a:prstGeom>
          <a:noFill/>
        </p:spPr>
        <p:txBody>
          <a:bodyPr wrap="square" rtlCol="0">
            <a:spAutoFit/>
          </a:bodyPr>
          <a:lstStyle/>
          <a:p>
            <a:r>
              <a:rPr lang="en-IN" sz="1200" b="1" dirty="0"/>
              <a:t>BOMB CALORIMETER </a:t>
            </a:r>
          </a:p>
        </p:txBody>
      </p:sp>
      <p:sp>
        <p:nvSpPr>
          <p:cNvPr id="12" name="TextBox 11"/>
          <p:cNvSpPr txBox="1"/>
          <p:nvPr/>
        </p:nvSpPr>
        <p:spPr>
          <a:xfrm>
            <a:off x="7109011" y="6395645"/>
            <a:ext cx="1792942" cy="307777"/>
          </a:xfrm>
          <a:prstGeom prst="rect">
            <a:avLst/>
          </a:prstGeom>
          <a:noFill/>
        </p:spPr>
        <p:txBody>
          <a:bodyPr wrap="square" rtlCol="0">
            <a:spAutoFit/>
          </a:bodyPr>
          <a:lstStyle/>
          <a:p>
            <a:r>
              <a:rPr lang="en-IN" sz="1400" b="1" dirty="0">
                <a:solidFill>
                  <a:srgbClr val="FF0000"/>
                </a:solidFill>
              </a:rPr>
              <a:t>HYDROMETER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7906" y="205299"/>
            <a:ext cx="6096000" cy="523220"/>
          </a:xfrm>
          <a:prstGeom prst="rect">
            <a:avLst/>
          </a:prstGeom>
          <a:noFill/>
        </p:spPr>
        <p:txBody>
          <a:bodyPr wrap="square">
            <a:spAutoFit/>
          </a:bodyPr>
          <a:lstStyle/>
          <a:p>
            <a:r>
              <a:rPr lang="en-IN" sz="2800" b="1" dirty="0">
                <a:latin typeface="Adobe Heiti Std R" panose="020B0400000000000000" pitchFamily="34" charset="-128"/>
                <a:ea typeface="Adobe Heiti Std R" panose="020B0400000000000000" pitchFamily="34" charset="-128"/>
              </a:rPr>
              <a:t>PRESENT WORK </a:t>
            </a:r>
          </a:p>
        </p:txBody>
      </p:sp>
      <p:sp>
        <p:nvSpPr>
          <p:cNvPr id="4" name="TextBox 3"/>
          <p:cNvSpPr txBox="1"/>
          <p:nvPr/>
        </p:nvSpPr>
        <p:spPr>
          <a:xfrm>
            <a:off x="277906" y="842682"/>
            <a:ext cx="3567953" cy="369332"/>
          </a:xfrm>
          <a:prstGeom prst="rect">
            <a:avLst/>
          </a:prstGeom>
          <a:noFill/>
        </p:spPr>
        <p:txBody>
          <a:bodyPr wrap="square" rtlCol="0">
            <a:spAutoFit/>
          </a:bodyPr>
          <a:lstStyle/>
          <a:p>
            <a:r>
              <a:rPr lang="en-IN" b="1" u="sng" dirty="0"/>
              <a:t>BLENDING WITH DIESEL</a:t>
            </a:r>
          </a:p>
        </p:txBody>
      </p:sp>
      <p:sp>
        <p:nvSpPr>
          <p:cNvPr id="5" name="TextBox 4"/>
          <p:cNvSpPr txBox="1"/>
          <p:nvPr/>
        </p:nvSpPr>
        <p:spPr>
          <a:xfrm>
            <a:off x="546848" y="1497105"/>
            <a:ext cx="5423647" cy="2585323"/>
          </a:xfrm>
          <a:prstGeom prst="rect">
            <a:avLst/>
          </a:prstGeom>
          <a:noFill/>
        </p:spPr>
        <p:txBody>
          <a:bodyPr wrap="square" rtlCol="0">
            <a:spAutoFit/>
          </a:bodyPr>
          <a:lstStyle/>
          <a:p>
            <a:pPr algn="just"/>
            <a:r>
              <a:rPr lang="en-IN" dirty="0">
                <a:solidFill>
                  <a:srgbClr val="FFFF00"/>
                </a:solidFill>
              </a:rPr>
              <a:t>The biodiesel sample was mixed with diesel in different proportions to prepare three different test samples. </a:t>
            </a:r>
          </a:p>
          <a:p>
            <a:pPr algn="just"/>
            <a:endParaRPr lang="en-IN" dirty="0">
              <a:solidFill>
                <a:srgbClr val="FFFF00"/>
              </a:solidFill>
            </a:endParaRPr>
          </a:p>
          <a:p>
            <a:pPr algn="just"/>
            <a:r>
              <a:rPr lang="en-IN" dirty="0">
                <a:solidFill>
                  <a:srgbClr val="FFFF00"/>
                </a:solidFill>
              </a:rPr>
              <a:t>Sample 1- B05 - Diesel((190ml) + Biodiesel(10ml)</a:t>
            </a:r>
          </a:p>
          <a:p>
            <a:pPr algn="just"/>
            <a:endParaRPr lang="en-IN" dirty="0">
              <a:solidFill>
                <a:srgbClr val="FFFF00"/>
              </a:solidFill>
            </a:endParaRPr>
          </a:p>
          <a:p>
            <a:pPr algn="just"/>
            <a:r>
              <a:rPr lang="en-IN" dirty="0">
                <a:solidFill>
                  <a:srgbClr val="FFFF00"/>
                </a:solidFill>
              </a:rPr>
              <a:t>Sample 2- B10 - Diesel((180ml) + Biodiesel(20ml)</a:t>
            </a:r>
          </a:p>
          <a:p>
            <a:pPr algn="just"/>
            <a:endParaRPr lang="en-IN" dirty="0">
              <a:solidFill>
                <a:srgbClr val="FFFF00"/>
              </a:solidFill>
            </a:endParaRPr>
          </a:p>
          <a:p>
            <a:pPr algn="just"/>
            <a:r>
              <a:rPr lang="en-IN" dirty="0">
                <a:solidFill>
                  <a:srgbClr val="FFFF00"/>
                </a:solidFill>
              </a:rPr>
              <a:t>Sample 3- B15 - Diesel((170ml) + Biodiesel(30ml)</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3906" y="842682"/>
            <a:ext cx="5271246" cy="46257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3083" y="241158"/>
            <a:ext cx="6096000" cy="523220"/>
          </a:xfrm>
          <a:prstGeom prst="rect">
            <a:avLst/>
          </a:prstGeom>
          <a:noFill/>
        </p:spPr>
        <p:txBody>
          <a:bodyPr wrap="square">
            <a:spAutoFit/>
          </a:bodyPr>
          <a:lstStyle/>
          <a:p>
            <a:r>
              <a:rPr lang="en-IN" sz="2800" b="1" dirty="0">
                <a:latin typeface="Adobe Heiti Std R" panose="020B0400000000000000" pitchFamily="34" charset="-128"/>
                <a:ea typeface="Adobe Heiti Std R" panose="020B0400000000000000" pitchFamily="34" charset="-128"/>
              </a:rPr>
              <a:t>PRESENT WORK </a:t>
            </a:r>
          </a:p>
        </p:txBody>
      </p:sp>
      <p:sp>
        <p:nvSpPr>
          <p:cNvPr id="4" name="TextBox 3"/>
          <p:cNvSpPr txBox="1"/>
          <p:nvPr/>
        </p:nvSpPr>
        <p:spPr>
          <a:xfrm>
            <a:off x="233083" y="742292"/>
            <a:ext cx="3541059" cy="369332"/>
          </a:xfrm>
          <a:prstGeom prst="rect">
            <a:avLst/>
          </a:prstGeom>
          <a:noFill/>
        </p:spPr>
        <p:txBody>
          <a:bodyPr wrap="square" rtlCol="0">
            <a:spAutoFit/>
          </a:bodyPr>
          <a:lstStyle/>
          <a:p>
            <a:r>
              <a:rPr lang="en-IN" b="1" dirty="0">
                <a:latin typeface="Arial Black" panose="020B0A04020102020204" pitchFamily="34" charset="0"/>
              </a:rPr>
              <a:t>Engine Performance Test</a:t>
            </a:r>
            <a:r>
              <a:rPr lang="en-IN" dirty="0"/>
              <a:t>:</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44871" y="649052"/>
            <a:ext cx="4285130" cy="2632030"/>
          </a:xfrm>
          <a:prstGeom prst="rect">
            <a:avLst/>
          </a:prstGeom>
        </p:spPr>
      </p:pic>
      <p:sp>
        <p:nvSpPr>
          <p:cNvPr id="8" name="TextBox 7"/>
          <p:cNvSpPr txBox="1"/>
          <p:nvPr/>
        </p:nvSpPr>
        <p:spPr>
          <a:xfrm>
            <a:off x="7288306" y="3558988"/>
            <a:ext cx="3971365" cy="2308324"/>
          </a:xfrm>
          <a:prstGeom prst="rect">
            <a:avLst/>
          </a:prstGeom>
          <a:noFill/>
        </p:spPr>
        <p:txBody>
          <a:bodyPr wrap="square" rtlCol="0">
            <a:spAutoFit/>
          </a:bodyPr>
          <a:lstStyle/>
          <a:p>
            <a:r>
              <a:rPr lang="en-IN" b="1" dirty="0">
                <a:latin typeface="Forte" panose="03060902040502070203" pitchFamily="66" charset="0"/>
              </a:rPr>
              <a:t>Engine Specification:-</a:t>
            </a:r>
          </a:p>
          <a:p>
            <a:endParaRPr lang="en-IN" b="1" dirty="0">
              <a:latin typeface="Forte" panose="03060902040502070203" pitchFamily="66" charset="0"/>
            </a:endParaRPr>
          </a:p>
          <a:p>
            <a:r>
              <a:rPr lang="en-IN" b="1" dirty="0">
                <a:solidFill>
                  <a:srgbClr val="FFFF00"/>
                </a:solidFill>
                <a:latin typeface="Adobe Song Std L" panose="02020300000000000000" pitchFamily="18" charset="-128"/>
                <a:ea typeface="Adobe Song Std L" panose="02020300000000000000" pitchFamily="18" charset="-128"/>
              </a:rPr>
              <a:t>4Cylinder 4Stroke Diesel Engine. </a:t>
            </a:r>
          </a:p>
          <a:p>
            <a:r>
              <a:rPr lang="en-IN" b="1" dirty="0">
                <a:solidFill>
                  <a:srgbClr val="FFFF00"/>
                </a:solidFill>
                <a:latin typeface="Adobe Song Std L" panose="02020300000000000000" pitchFamily="18" charset="-128"/>
                <a:ea typeface="Adobe Song Std L" panose="02020300000000000000" pitchFamily="18" charset="-128"/>
              </a:rPr>
              <a:t>Bore-75mm, Stroke- 79mm. </a:t>
            </a:r>
          </a:p>
          <a:p>
            <a:r>
              <a:rPr lang="en-IN" b="1" dirty="0">
                <a:solidFill>
                  <a:srgbClr val="FFFF00"/>
                </a:solidFill>
                <a:latin typeface="Adobe Song Std L" panose="02020300000000000000" pitchFamily="18" charset="-128"/>
                <a:ea typeface="Adobe Song Std L" panose="02020300000000000000" pitchFamily="18" charset="-128"/>
              </a:rPr>
              <a:t>Power- 64bhp@5000rpm. Displacement-1396cc. </a:t>
            </a:r>
          </a:p>
          <a:p>
            <a:r>
              <a:rPr lang="en-IN" b="1" dirty="0">
                <a:solidFill>
                  <a:srgbClr val="FFFF00"/>
                </a:solidFill>
                <a:latin typeface="Adobe Song Std L" panose="02020300000000000000" pitchFamily="18" charset="-128"/>
                <a:ea typeface="Adobe Song Std L" panose="02020300000000000000" pitchFamily="18" charset="-128"/>
              </a:rPr>
              <a:t>Loading : Eddy Current Dynamometer (Arm Length = 200mm). </a:t>
            </a:r>
          </a:p>
        </p:txBody>
      </p:sp>
      <p:sp>
        <p:nvSpPr>
          <p:cNvPr id="9" name="TextBox 8"/>
          <p:cNvSpPr txBox="1"/>
          <p:nvPr/>
        </p:nvSpPr>
        <p:spPr>
          <a:xfrm>
            <a:off x="394447" y="1265512"/>
            <a:ext cx="6750424" cy="4524315"/>
          </a:xfrm>
          <a:prstGeom prst="rect">
            <a:avLst/>
          </a:prstGeom>
          <a:noFill/>
        </p:spPr>
        <p:txBody>
          <a:bodyPr wrap="square" rtlCol="0">
            <a:spAutoFit/>
          </a:bodyPr>
          <a:lstStyle/>
          <a:p>
            <a:r>
              <a:rPr lang="en-IN" dirty="0"/>
              <a:t>Formulae Used :</a:t>
            </a:r>
          </a:p>
          <a:p>
            <a:endParaRPr lang="en-IN" dirty="0"/>
          </a:p>
          <a:p>
            <a:r>
              <a:rPr lang="en-IN" dirty="0"/>
              <a:t>1.Brake Power (BP) = (2</a:t>
            </a:r>
            <a:r>
              <a:rPr lang="el-GR" dirty="0"/>
              <a:t>π</a:t>
            </a:r>
            <a:r>
              <a:rPr lang="en-IN" dirty="0"/>
              <a:t>NT / 60000) kW</a:t>
            </a:r>
          </a:p>
          <a:p>
            <a:r>
              <a:rPr lang="en-IN" dirty="0"/>
              <a:t>where N= RPM</a:t>
            </a:r>
          </a:p>
          <a:p>
            <a:pPr algn="just"/>
            <a:r>
              <a:rPr lang="en-IN" dirty="0"/>
              <a:t>T= Wx9.81xAL</a:t>
            </a:r>
          </a:p>
          <a:p>
            <a:r>
              <a:rPr lang="en-IN" dirty="0"/>
              <a:t>where W=Load, AL= Arm Length= 200mm=0.2m</a:t>
            </a:r>
          </a:p>
          <a:p>
            <a:endParaRPr lang="en-IN" dirty="0"/>
          </a:p>
          <a:p>
            <a:r>
              <a:rPr lang="en-IN" dirty="0"/>
              <a:t>2.Mass of Fuel Consumed (Mf) = (10 x Specific Gravity of diesel x 3600) / (Time x x1000) kg/hr</a:t>
            </a:r>
          </a:p>
          <a:p>
            <a:endParaRPr lang="en-IN" dirty="0"/>
          </a:p>
          <a:p>
            <a:r>
              <a:rPr lang="en-IN" dirty="0"/>
              <a:t>3.Brake Specific Fuel Consumption (BSFC) = Mf / BP kg/kw-hr</a:t>
            </a:r>
          </a:p>
          <a:p>
            <a:endParaRPr lang="en-IN" dirty="0"/>
          </a:p>
          <a:p>
            <a:r>
              <a:rPr lang="en-IN" dirty="0"/>
              <a:t>4.Brake Thermal Efficiency () = [ (BP x 3600) / (Mf x CV)] x 100 %</a:t>
            </a:r>
          </a:p>
          <a:p>
            <a:r>
              <a:rPr lang="en-IN" dirty="0"/>
              <a:t>where CV= Calorific Value of Fuel mixture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777" y="212763"/>
            <a:ext cx="4966447" cy="523220"/>
          </a:xfrm>
          <a:prstGeom prst="rect">
            <a:avLst/>
          </a:prstGeom>
          <a:noFill/>
        </p:spPr>
        <p:txBody>
          <a:bodyPr wrap="square" rtlCol="0">
            <a:spAutoFit/>
          </a:bodyPr>
          <a:lstStyle/>
          <a:p>
            <a:r>
              <a:rPr lang="en-IN" sz="2800" b="1" dirty="0">
                <a:solidFill>
                  <a:schemeClr val="tx1">
                    <a:lumMod val="95000"/>
                  </a:schemeClr>
                </a:solidFill>
                <a:latin typeface="Adobe Heiti Std R" panose="020B0400000000000000" pitchFamily="34" charset="-128"/>
                <a:ea typeface="Adobe Heiti Std R" panose="020B0400000000000000" pitchFamily="34" charset="-128"/>
              </a:rPr>
              <a:t>RESULTS AND DISCUSSION</a:t>
            </a:r>
          </a:p>
        </p:txBody>
      </p:sp>
      <p:sp>
        <p:nvSpPr>
          <p:cNvPr id="6" name="TextBox 5"/>
          <p:cNvSpPr txBox="1"/>
          <p:nvPr/>
        </p:nvSpPr>
        <p:spPr>
          <a:xfrm>
            <a:off x="4020670" y="1054264"/>
            <a:ext cx="4428564" cy="369332"/>
          </a:xfrm>
          <a:prstGeom prst="rect">
            <a:avLst/>
          </a:prstGeom>
          <a:noFill/>
        </p:spPr>
        <p:txBody>
          <a:bodyPr wrap="square" rtlCol="0">
            <a:spAutoFit/>
          </a:bodyPr>
          <a:lstStyle/>
          <a:p>
            <a:r>
              <a:rPr lang="en-IN" b="1" u="sng" dirty="0"/>
              <a:t>B-05(5% Bio diesel +95% Diesel)</a:t>
            </a:r>
          </a:p>
        </p:txBody>
      </p:sp>
      <p:graphicFrame>
        <p:nvGraphicFramePr>
          <p:cNvPr id="8" name="Table 8"/>
          <p:cNvGraphicFramePr>
            <a:graphicFrameLocks noGrp="1"/>
          </p:cNvGraphicFramePr>
          <p:nvPr/>
        </p:nvGraphicFramePr>
        <p:xfrm>
          <a:off x="1362636" y="1599693"/>
          <a:ext cx="9332256" cy="4539262"/>
        </p:xfrm>
        <a:graphic>
          <a:graphicData uri="http://schemas.openxmlformats.org/drawingml/2006/table">
            <a:tbl>
              <a:tblPr firstRow="1" bandRow="1">
                <a:tableStyleId>{5C22544A-7EE6-4342-B048-85BDC9FD1C3A}</a:tableStyleId>
              </a:tblPr>
              <a:tblGrid>
                <a:gridCol w="2264823">
                  <a:extLst>
                    <a:ext uri="{9D8B030D-6E8A-4147-A177-3AD203B41FA5}">
                      <a16:colId xmlns:a16="http://schemas.microsoft.com/office/drawing/2014/main" val="20000"/>
                    </a:ext>
                  </a:extLst>
                </a:gridCol>
                <a:gridCol w="3020806">
                  <a:extLst>
                    <a:ext uri="{9D8B030D-6E8A-4147-A177-3AD203B41FA5}">
                      <a16:colId xmlns:a16="http://schemas.microsoft.com/office/drawing/2014/main" val="20001"/>
                    </a:ext>
                  </a:extLst>
                </a:gridCol>
                <a:gridCol w="954822">
                  <a:extLst>
                    <a:ext uri="{9D8B030D-6E8A-4147-A177-3AD203B41FA5}">
                      <a16:colId xmlns:a16="http://schemas.microsoft.com/office/drawing/2014/main" val="20002"/>
                    </a:ext>
                  </a:extLst>
                </a:gridCol>
                <a:gridCol w="977557">
                  <a:extLst>
                    <a:ext uri="{9D8B030D-6E8A-4147-A177-3AD203B41FA5}">
                      <a16:colId xmlns:a16="http://schemas.microsoft.com/office/drawing/2014/main" val="20003"/>
                    </a:ext>
                  </a:extLst>
                </a:gridCol>
                <a:gridCol w="977554">
                  <a:extLst>
                    <a:ext uri="{9D8B030D-6E8A-4147-A177-3AD203B41FA5}">
                      <a16:colId xmlns:a16="http://schemas.microsoft.com/office/drawing/2014/main" val="20004"/>
                    </a:ext>
                  </a:extLst>
                </a:gridCol>
                <a:gridCol w="1136694">
                  <a:extLst>
                    <a:ext uri="{9D8B030D-6E8A-4147-A177-3AD203B41FA5}">
                      <a16:colId xmlns:a16="http://schemas.microsoft.com/office/drawing/2014/main" val="20005"/>
                    </a:ext>
                  </a:extLst>
                </a:gridCol>
              </a:tblGrid>
              <a:tr h="498217">
                <a:tc>
                  <a:txBody>
                    <a:bodyPr/>
                    <a:lstStyle/>
                    <a:p>
                      <a:r>
                        <a:rPr lang="en-IN" dirty="0"/>
                        <a:t>SL NO.</a:t>
                      </a:r>
                    </a:p>
                  </a:txBody>
                  <a:tcPr/>
                </a:tc>
                <a:tc>
                  <a:txBody>
                    <a:bodyPr/>
                    <a:lstStyle/>
                    <a:p>
                      <a:r>
                        <a:rPr lang="en-IN" dirty="0"/>
                        <a:t>UNITS</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10000"/>
                  </a:ext>
                </a:extLst>
              </a:tr>
              <a:tr h="346881">
                <a:tc>
                  <a:txBody>
                    <a:bodyPr/>
                    <a:lstStyle/>
                    <a:p>
                      <a:r>
                        <a:rPr lang="en-IN" dirty="0"/>
                        <a:t>LOAD </a:t>
                      </a:r>
                    </a:p>
                  </a:txBody>
                  <a:tcPr/>
                </a:tc>
                <a:tc>
                  <a:txBody>
                    <a:bodyPr/>
                    <a:lstStyle/>
                    <a:p>
                      <a:r>
                        <a:rPr lang="en-IN" dirty="0"/>
                        <a:t>Kg</a:t>
                      </a:r>
                    </a:p>
                  </a:txBody>
                  <a:tcPr/>
                </a:tc>
                <a:tc>
                  <a:txBody>
                    <a:bodyPr/>
                    <a:lstStyle/>
                    <a:p>
                      <a:r>
                        <a:rPr lang="en-IN" dirty="0"/>
                        <a:t>16</a:t>
                      </a:r>
                    </a:p>
                  </a:txBody>
                  <a:tcPr/>
                </a:tc>
                <a:tc>
                  <a:txBody>
                    <a:bodyPr/>
                    <a:lstStyle/>
                    <a:p>
                      <a:r>
                        <a:rPr lang="en-IN" dirty="0"/>
                        <a:t>19</a:t>
                      </a:r>
                    </a:p>
                  </a:txBody>
                  <a:tcPr/>
                </a:tc>
                <a:tc>
                  <a:txBody>
                    <a:bodyPr/>
                    <a:lstStyle/>
                    <a:p>
                      <a:r>
                        <a:rPr lang="en-IN" dirty="0"/>
                        <a:t>19</a:t>
                      </a:r>
                    </a:p>
                  </a:txBody>
                  <a:tcPr/>
                </a:tc>
                <a:tc>
                  <a:txBody>
                    <a:bodyPr/>
                    <a:lstStyle/>
                    <a:p>
                      <a:r>
                        <a:rPr lang="en-IN" dirty="0"/>
                        <a:t>22</a:t>
                      </a:r>
                    </a:p>
                  </a:txBody>
                  <a:tcPr/>
                </a:tc>
                <a:extLst>
                  <a:ext uri="{0D108BD9-81ED-4DB2-BD59-A6C34878D82A}">
                    <a16:rowId xmlns:a16="http://schemas.microsoft.com/office/drawing/2014/main" val="10001"/>
                  </a:ext>
                </a:extLst>
              </a:tr>
              <a:tr h="607041">
                <a:tc>
                  <a:txBody>
                    <a:bodyPr/>
                    <a:lstStyle/>
                    <a:p>
                      <a:r>
                        <a:rPr lang="en-IN" dirty="0"/>
                        <a:t>RPM</a:t>
                      </a:r>
                    </a:p>
                  </a:txBody>
                  <a:tcPr/>
                </a:tc>
                <a:tc>
                  <a:txBody>
                    <a:bodyPr/>
                    <a:lstStyle/>
                    <a:p>
                      <a:r>
                        <a:rPr lang="en-IN" dirty="0"/>
                        <a:t>Rpm</a:t>
                      </a:r>
                    </a:p>
                  </a:txBody>
                  <a:tcPr/>
                </a:tc>
                <a:tc>
                  <a:txBody>
                    <a:bodyPr/>
                    <a:lstStyle/>
                    <a:p>
                      <a:r>
                        <a:rPr lang="en-IN" dirty="0"/>
                        <a:t>1500</a:t>
                      </a:r>
                    </a:p>
                  </a:txBody>
                  <a:tcPr/>
                </a:tc>
                <a:tc>
                  <a:txBody>
                    <a:bodyPr/>
                    <a:lstStyle/>
                    <a:p>
                      <a:r>
                        <a:rPr lang="en-IN" dirty="0"/>
                        <a:t>1300</a:t>
                      </a:r>
                    </a:p>
                  </a:txBody>
                  <a:tcPr/>
                </a:tc>
                <a:tc>
                  <a:txBody>
                    <a:bodyPr/>
                    <a:lstStyle/>
                    <a:p>
                      <a:r>
                        <a:rPr lang="en-IN" dirty="0"/>
                        <a:t>1700</a:t>
                      </a:r>
                    </a:p>
                  </a:txBody>
                  <a:tcPr/>
                </a:tc>
                <a:tc>
                  <a:txBody>
                    <a:bodyPr/>
                    <a:lstStyle/>
                    <a:p>
                      <a:r>
                        <a:rPr lang="en-IN" dirty="0"/>
                        <a:t>1500</a:t>
                      </a:r>
                    </a:p>
                  </a:txBody>
                  <a:tcPr/>
                </a:tc>
                <a:extLst>
                  <a:ext uri="{0D108BD9-81ED-4DB2-BD59-A6C34878D82A}">
                    <a16:rowId xmlns:a16="http://schemas.microsoft.com/office/drawing/2014/main" val="10002"/>
                  </a:ext>
                </a:extLst>
              </a:tr>
              <a:tr h="607041">
                <a:tc>
                  <a:txBody>
                    <a:bodyPr/>
                    <a:lstStyle/>
                    <a:p>
                      <a:r>
                        <a:rPr lang="en-IN" dirty="0"/>
                        <a:t>10cc Fuel flow time </a:t>
                      </a:r>
                    </a:p>
                  </a:txBody>
                  <a:tcPr/>
                </a:tc>
                <a:tc>
                  <a:txBody>
                    <a:bodyPr/>
                    <a:lstStyle/>
                    <a:p>
                      <a:r>
                        <a:rPr lang="en-IN" dirty="0"/>
                        <a:t>Sec </a:t>
                      </a:r>
                    </a:p>
                  </a:txBody>
                  <a:tcPr/>
                </a:tc>
                <a:tc>
                  <a:txBody>
                    <a:bodyPr/>
                    <a:lstStyle/>
                    <a:p>
                      <a:r>
                        <a:rPr lang="en-IN" dirty="0"/>
                        <a:t>20.44</a:t>
                      </a:r>
                    </a:p>
                  </a:txBody>
                  <a:tcPr/>
                </a:tc>
                <a:tc>
                  <a:txBody>
                    <a:bodyPr/>
                    <a:lstStyle/>
                    <a:p>
                      <a:r>
                        <a:rPr lang="en-IN" dirty="0"/>
                        <a:t>19.66</a:t>
                      </a:r>
                    </a:p>
                  </a:txBody>
                  <a:tcPr/>
                </a:tc>
                <a:tc>
                  <a:txBody>
                    <a:bodyPr/>
                    <a:lstStyle/>
                    <a:p>
                      <a:r>
                        <a:rPr lang="en-IN" dirty="0"/>
                        <a:t>15.13</a:t>
                      </a:r>
                    </a:p>
                  </a:txBody>
                  <a:tcPr/>
                </a:tc>
                <a:tc>
                  <a:txBody>
                    <a:bodyPr/>
                    <a:lstStyle/>
                    <a:p>
                      <a:r>
                        <a:rPr lang="en-IN" dirty="0"/>
                        <a:t>15.63</a:t>
                      </a:r>
                    </a:p>
                  </a:txBody>
                  <a:tcPr/>
                </a:tc>
                <a:extLst>
                  <a:ext uri="{0D108BD9-81ED-4DB2-BD59-A6C34878D82A}">
                    <a16:rowId xmlns:a16="http://schemas.microsoft.com/office/drawing/2014/main" val="10003"/>
                  </a:ext>
                </a:extLst>
              </a:tr>
              <a:tr h="607041">
                <a:tc>
                  <a:txBody>
                    <a:bodyPr/>
                    <a:lstStyle/>
                    <a:p>
                      <a:r>
                        <a:rPr lang="en-IN" dirty="0"/>
                        <a:t>Exhaust Temp. </a:t>
                      </a:r>
                    </a:p>
                  </a:txBody>
                  <a:tcPr/>
                </a:tc>
                <a:tc>
                  <a:txBody>
                    <a:bodyPr/>
                    <a:lstStyle/>
                    <a:p>
                      <a:r>
                        <a:rPr lang="en-IN" dirty="0"/>
                        <a:t>degree C</a:t>
                      </a:r>
                    </a:p>
                  </a:txBody>
                  <a:tcPr/>
                </a:tc>
                <a:tc>
                  <a:txBody>
                    <a:bodyPr/>
                    <a:lstStyle/>
                    <a:p>
                      <a:r>
                        <a:rPr lang="en-IN" dirty="0"/>
                        <a:t>208</a:t>
                      </a:r>
                    </a:p>
                  </a:txBody>
                  <a:tcPr/>
                </a:tc>
                <a:tc>
                  <a:txBody>
                    <a:bodyPr/>
                    <a:lstStyle/>
                    <a:p>
                      <a:r>
                        <a:rPr lang="en-IN" dirty="0"/>
                        <a:t>228</a:t>
                      </a:r>
                    </a:p>
                  </a:txBody>
                  <a:tcPr/>
                </a:tc>
                <a:tc>
                  <a:txBody>
                    <a:bodyPr/>
                    <a:lstStyle/>
                    <a:p>
                      <a:r>
                        <a:rPr lang="en-IN" dirty="0"/>
                        <a:t>251</a:t>
                      </a:r>
                    </a:p>
                  </a:txBody>
                  <a:tcPr/>
                </a:tc>
                <a:tc>
                  <a:txBody>
                    <a:bodyPr/>
                    <a:lstStyle/>
                    <a:p>
                      <a:r>
                        <a:rPr lang="en-IN" dirty="0"/>
                        <a:t>275</a:t>
                      </a:r>
                    </a:p>
                  </a:txBody>
                  <a:tcPr/>
                </a:tc>
                <a:extLst>
                  <a:ext uri="{0D108BD9-81ED-4DB2-BD59-A6C34878D82A}">
                    <a16:rowId xmlns:a16="http://schemas.microsoft.com/office/drawing/2014/main" val="10004"/>
                  </a:ext>
                </a:extLst>
              </a:tr>
              <a:tr h="607041">
                <a:tc>
                  <a:txBody>
                    <a:bodyPr/>
                    <a:lstStyle/>
                    <a:p>
                      <a:r>
                        <a:rPr lang="en-IN" dirty="0"/>
                        <a:t>SFC</a:t>
                      </a:r>
                    </a:p>
                  </a:txBody>
                  <a:tcPr/>
                </a:tc>
                <a:tc>
                  <a:txBody>
                    <a:bodyPr/>
                    <a:lstStyle/>
                    <a:p>
                      <a:r>
                        <a:rPr lang="en-IN" dirty="0"/>
                        <a:t>kg/kW- hr </a:t>
                      </a:r>
                    </a:p>
                  </a:txBody>
                  <a:tcPr/>
                </a:tc>
                <a:tc>
                  <a:txBody>
                    <a:bodyPr/>
                    <a:lstStyle/>
                    <a:p>
                      <a:r>
                        <a:rPr lang="en-US" dirty="0"/>
                        <a:t>0.3012</a:t>
                      </a:r>
                      <a:endParaRPr lang="en-IN" dirty="0"/>
                    </a:p>
                  </a:txBody>
                  <a:tcPr/>
                </a:tc>
                <a:tc>
                  <a:txBody>
                    <a:bodyPr/>
                    <a:lstStyle/>
                    <a:p>
                      <a:r>
                        <a:rPr lang="en-US" dirty="0"/>
                        <a:t>0.3043</a:t>
                      </a:r>
                      <a:endParaRPr lang="en-IN" dirty="0"/>
                    </a:p>
                  </a:txBody>
                  <a:tcPr/>
                </a:tc>
                <a:tc>
                  <a:txBody>
                    <a:bodyPr/>
                    <a:lstStyle/>
                    <a:p>
                      <a:r>
                        <a:rPr lang="en-US" dirty="0"/>
                        <a:t>0.3024</a:t>
                      </a:r>
                      <a:endParaRPr lang="en-IN" dirty="0"/>
                    </a:p>
                  </a:txBody>
                  <a:tcPr/>
                </a:tc>
                <a:tc>
                  <a:txBody>
                    <a:bodyPr/>
                    <a:lstStyle/>
                    <a:p>
                      <a:r>
                        <a:rPr lang="en-US" dirty="0"/>
                        <a:t>0.2865</a:t>
                      </a:r>
                      <a:endParaRPr lang="en-IN" dirty="0"/>
                    </a:p>
                  </a:txBody>
                  <a:tcPr/>
                </a:tc>
                <a:extLst>
                  <a:ext uri="{0D108BD9-81ED-4DB2-BD59-A6C34878D82A}">
                    <a16:rowId xmlns:a16="http://schemas.microsoft.com/office/drawing/2014/main" val="10005"/>
                  </a:ext>
                </a:extLst>
              </a:tr>
              <a:tr h="607041">
                <a:tc>
                  <a:txBody>
                    <a:bodyPr/>
                    <a:lstStyle/>
                    <a:p>
                      <a:r>
                        <a:rPr lang="en-IN" dirty="0"/>
                        <a:t>BP</a:t>
                      </a:r>
                    </a:p>
                  </a:txBody>
                  <a:tcPr/>
                </a:tc>
                <a:tc>
                  <a:txBody>
                    <a:bodyPr/>
                    <a:lstStyle/>
                    <a:p>
                      <a:r>
                        <a:rPr lang="en-IN" dirty="0"/>
                        <a:t>kW</a:t>
                      </a:r>
                    </a:p>
                  </a:txBody>
                  <a:tcPr/>
                </a:tc>
                <a:tc>
                  <a:txBody>
                    <a:bodyPr/>
                    <a:lstStyle/>
                    <a:p>
                      <a:r>
                        <a:rPr lang="en-IN" dirty="0"/>
                        <a:t>4.933</a:t>
                      </a:r>
                    </a:p>
                  </a:txBody>
                  <a:tcPr/>
                </a:tc>
                <a:tc>
                  <a:txBody>
                    <a:bodyPr/>
                    <a:lstStyle/>
                    <a:p>
                      <a:r>
                        <a:rPr lang="en-IN" dirty="0"/>
                        <a:t>5.076</a:t>
                      </a:r>
                    </a:p>
                  </a:txBody>
                  <a:tcPr/>
                </a:tc>
                <a:tc>
                  <a:txBody>
                    <a:bodyPr/>
                    <a:lstStyle/>
                    <a:p>
                      <a:r>
                        <a:rPr lang="en-IN" dirty="0"/>
                        <a:t>6.639</a:t>
                      </a:r>
                    </a:p>
                  </a:txBody>
                  <a:tcPr/>
                </a:tc>
                <a:tc>
                  <a:txBody>
                    <a:bodyPr/>
                    <a:lstStyle/>
                    <a:p>
                      <a:r>
                        <a:rPr lang="en-IN" dirty="0"/>
                        <a:t>6.782</a:t>
                      </a:r>
                    </a:p>
                  </a:txBody>
                  <a:tcPr/>
                </a:tc>
                <a:extLst>
                  <a:ext uri="{0D108BD9-81ED-4DB2-BD59-A6C34878D82A}">
                    <a16:rowId xmlns:a16="http://schemas.microsoft.com/office/drawing/2014/main" val="10006"/>
                  </a:ext>
                </a:extLst>
              </a:tr>
              <a:tr h="607041">
                <a:tc>
                  <a:txBody>
                    <a:bodyPr/>
                    <a:lstStyle/>
                    <a:p>
                      <a:r>
                        <a:rPr lang="en-IN" dirty="0"/>
                        <a:t>BTE </a:t>
                      </a:r>
                    </a:p>
                  </a:txBody>
                  <a:tcPr/>
                </a:tc>
                <a:tc>
                  <a:txBody>
                    <a:bodyPr/>
                    <a:lstStyle/>
                    <a:p>
                      <a:r>
                        <a:rPr lang="en-IN" dirty="0"/>
                        <a:t>Percentage </a:t>
                      </a:r>
                    </a:p>
                  </a:txBody>
                  <a:tcPr/>
                </a:tc>
                <a:tc>
                  <a:txBody>
                    <a:bodyPr/>
                    <a:lstStyle/>
                    <a:p>
                      <a:r>
                        <a:rPr lang="en-IN" dirty="0"/>
                        <a:t>27.46</a:t>
                      </a:r>
                    </a:p>
                  </a:txBody>
                  <a:tcPr/>
                </a:tc>
                <a:tc>
                  <a:txBody>
                    <a:bodyPr/>
                    <a:lstStyle/>
                    <a:p>
                      <a:r>
                        <a:rPr lang="en-IN" dirty="0"/>
                        <a:t>27.18</a:t>
                      </a:r>
                    </a:p>
                  </a:txBody>
                  <a:tcPr/>
                </a:tc>
                <a:tc>
                  <a:txBody>
                    <a:bodyPr/>
                    <a:lstStyle/>
                    <a:p>
                      <a:r>
                        <a:rPr lang="en-IN" dirty="0"/>
                        <a:t>27.36</a:t>
                      </a:r>
                    </a:p>
                  </a:txBody>
                  <a:tcPr/>
                </a:tc>
                <a:tc>
                  <a:txBody>
                    <a:bodyPr/>
                    <a:lstStyle/>
                    <a:p>
                      <a:r>
                        <a:rPr lang="en-IN" dirty="0"/>
                        <a:t>28.87</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9647" y="115652"/>
            <a:ext cx="6096000" cy="523220"/>
          </a:xfrm>
          <a:prstGeom prst="rect">
            <a:avLst/>
          </a:prstGeom>
          <a:noFill/>
        </p:spPr>
        <p:txBody>
          <a:bodyPr wrap="square">
            <a:spAutoFit/>
          </a:bodyPr>
          <a:lstStyle/>
          <a:p>
            <a:r>
              <a:rPr lang="en-IN" sz="2800" b="1" dirty="0"/>
              <a:t>RESULTS AND DISCUSSION</a:t>
            </a:r>
          </a:p>
        </p:txBody>
      </p:sp>
      <p:graphicFrame>
        <p:nvGraphicFramePr>
          <p:cNvPr id="4" name="Table 4"/>
          <p:cNvGraphicFramePr>
            <a:graphicFrameLocks noGrp="1"/>
          </p:cNvGraphicFramePr>
          <p:nvPr/>
        </p:nvGraphicFramePr>
        <p:xfrm>
          <a:off x="271928" y="1162092"/>
          <a:ext cx="5552142" cy="5353084"/>
        </p:xfrm>
        <a:graphic>
          <a:graphicData uri="http://schemas.openxmlformats.org/drawingml/2006/table">
            <a:tbl>
              <a:tblPr firstRow="1" bandRow="1">
                <a:tableStyleId>{5C22544A-7EE6-4342-B048-85BDC9FD1C3A}</a:tableStyleId>
              </a:tblPr>
              <a:tblGrid>
                <a:gridCol w="925357">
                  <a:extLst>
                    <a:ext uri="{9D8B030D-6E8A-4147-A177-3AD203B41FA5}">
                      <a16:colId xmlns:a16="http://schemas.microsoft.com/office/drawing/2014/main" val="20000"/>
                    </a:ext>
                  </a:extLst>
                </a:gridCol>
                <a:gridCol w="925357">
                  <a:extLst>
                    <a:ext uri="{9D8B030D-6E8A-4147-A177-3AD203B41FA5}">
                      <a16:colId xmlns:a16="http://schemas.microsoft.com/office/drawing/2014/main" val="20001"/>
                    </a:ext>
                  </a:extLst>
                </a:gridCol>
                <a:gridCol w="925357">
                  <a:extLst>
                    <a:ext uri="{9D8B030D-6E8A-4147-A177-3AD203B41FA5}">
                      <a16:colId xmlns:a16="http://schemas.microsoft.com/office/drawing/2014/main" val="20002"/>
                    </a:ext>
                  </a:extLst>
                </a:gridCol>
                <a:gridCol w="925357">
                  <a:extLst>
                    <a:ext uri="{9D8B030D-6E8A-4147-A177-3AD203B41FA5}">
                      <a16:colId xmlns:a16="http://schemas.microsoft.com/office/drawing/2014/main" val="20003"/>
                    </a:ext>
                  </a:extLst>
                </a:gridCol>
                <a:gridCol w="925357">
                  <a:extLst>
                    <a:ext uri="{9D8B030D-6E8A-4147-A177-3AD203B41FA5}">
                      <a16:colId xmlns:a16="http://schemas.microsoft.com/office/drawing/2014/main" val="20004"/>
                    </a:ext>
                  </a:extLst>
                </a:gridCol>
                <a:gridCol w="925357">
                  <a:extLst>
                    <a:ext uri="{9D8B030D-6E8A-4147-A177-3AD203B41FA5}">
                      <a16:colId xmlns:a16="http://schemas.microsoft.com/office/drawing/2014/main" val="20005"/>
                    </a:ext>
                  </a:extLst>
                </a:gridCol>
              </a:tblGrid>
              <a:tr h="537634">
                <a:tc>
                  <a:txBody>
                    <a:bodyPr/>
                    <a:lstStyle/>
                    <a:p>
                      <a:r>
                        <a:rPr lang="en-IN" dirty="0"/>
                        <a:t>SL NO. </a:t>
                      </a:r>
                    </a:p>
                  </a:txBody>
                  <a:tcPr/>
                </a:tc>
                <a:tc>
                  <a:txBody>
                    <a:bodyPr/>
                    <a:lstStyle/>
                    <a:p>
                      <a:r>
                        <a:rPr lang="en-IN" dirty="0"/>
                        <a:t>UNITS </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10000"/>
                  </a:ext>
                </a:extLst>
              </a:tr>
              <a:tr h="391486">
                <a:tc>
                  <a:txBody>
                    <a:bodyPr/>
                    <a:lstStyle/>
                    <a:p>
                      <a:r>
                        <a:rPr lang="en-IN" dirty="0"/>
                        <a:t>Load </a:t>
                      </a:r>
                    </a:p>
                  </a:txBody>
                  <a:tcPr/>
                </a:tc>
                <a:tc>
                  <a:txBody>
                    <a:bodyPr/>
                    <a:lstStyle/>
                    <a:p>
                      <a:r>
                        <a:rPr lang="en-IN" dirty="0"/>
                        <a:t>Kg </a:t>
                      </a:r>
                    </a:p>
                  </a:txBody>
                  <a:tcPr/>
                </a:tc>
                <a:tc>
                  <a:txBody>
                    <a:bodyPr/>
                    <a:lstStyle/>
                    <a:p>
                      <a:r>
                        <a:rPr lang="en-IN" dirty="0"/>
                        <a:t>16</a:t>
                      </a:r>
                    </a:p>
                  </a:txBody>
                  <a:tcPr/>
                </a:tc>
                <a:tc>
                  <a:txBody>
                    <a:bodyPr/>
                    <a:lstStyle/>
                    <a:p>
                      <a:r>
                        <a:rPr lang="en-IN" dirty="0"/>
                        <a:t>16</a:t>
                      </a:r>
                    </a:p>
                  </a:txBody>
                  <a:tcPr/>
                </a:tc>
                <a:tc>
                  <a:txBody>
                    <a:bodyPr/>
                    <a:lstStyle/>
                    <a:p>
                      <a:r>
                        <a:rPr lang="en-IN" dirty="0"/>
                        <a:t>19</a:t>
                      </a:r>
                    </a:p>
                  </a:txBody>
                  <a:tcPr/>
                </a:tc>
                <a:tc>
                  <a:txBody>
                    <a:bodyPr/>
                    <a:lstStyle/>
                    <a:p>
                      <a:r>
                        <a:rPr lang="en-IN" dirty="0"/>
                        <a:t>22</a:t>
                      </a:r>
                    </a:p>
                  </a:txBody>
                  <a:tcPr/>
                </a:tc>
                <a:extLst>
                  <a:ext uri="{0D108BD9-81ED-4DB2-BD59-A6C34878D82A}">
                    <a16:rowId xmlns:a16="http://schemas.microsoft.com/office/drawing/2014/main" val="10001"/>
                  </a:ext>
                </a:extLst>
              </a:tr>
              <a:tr h="391486">
                <a:tc>
                  <a:txBody>
                    <a:bodyPr/>
                    <a:lstStyle/>
                    <a:p>
                      <a:r>
                        <a:rPr lang="en-IN" dirty="0"/>
                        <a:t>RPM </a:t>
                      </a:r>
                    </a:p>
                  </a:txBody>
                  <a:tcPr/>
                </a:tc>
                <a:tc>
                  <a:txBody>
                    <a:bodyPr/>
                    <a:lstStyle/>
                    <a:p>
                      <a:r>
                        <a:rPr lang="en-IN" dirty="0"/>
                        <a:t>rpm</a:t>
                      </a:r>
                    </a:p>
                  </a:txBody>
                  <a:tcPr/>
                </a:tc>
                <a:tc>
                  <a:txBody>
                    <a:bodyPr/>
                    <a:lstStyle/>
                    <a:p>
                      <a:r>
                        <a:rPr lang="en-IN" dirty="0"/>
                        <a:t>1300</a:t>
                      </a:r>
                    </a:p>
                  </a:txBody>
                  <a:tcPr/>
                </a:tc>
                <a:tc>
                  <a:txBody>
                    <a:bodyPr/>
                    <a:lstStyle/>
                    <a:p>
                      <a:r>
                        <a:rPr lang="en-IN" dirty="0"/>
                        <a:t>1700</a:t>
                      </a:r>
                    </a:p>
                  </a:txBody>
                  <a:tcPr/>
                </a:tc>
                <a:tc>
                  <a:txBody>
                    <a:bodyPr/>
                    <a:lstStyle/>
                    <a:p>
                      <a:r>
                        <a:rPr lang="en-IN" dirty="0"/>
                        <a:t>1500</a:t>
                      </a:r>
                    </a:p>
                  </a:txBody>
                  <a:tcPr/>
                </a:tc>
                <a:tc>
                  <a:txBody>
                    <a:bodyPr/>
                    <a:lstStyle/>
                    <a:p>
                      <a:r>
                        <a:rPr lang="en-IN" dirty="0"/>
                        <a:t>1700</a:t>
                      </a:r>
                    </a:p>
                  </a:txBody>
                  <a:tcPr/>
                </a:tc>
                <a:extLst>
                  <a:ext uri="{0D108BD9-81ED-4DB2-BD59-A6C34878D82A}">
                    <a16:rowId xmlns:a16="http://schemas.microsoft.com/office/drawing/2014/main" val="10002"/>
                  </a:ext>
                </a:extLst>
              </a:tr>
              <a:tr h="1272329">
                <a:tc>
                  <a:txBody>
                    <a:bodyPr/>
                    <a:lstStyle/>
                    <a:p>
                      <a:r>
                        <a:rPr lang="en-IN" dirty="0"/>
                        <a:t>10CC Fuel flow time </a:t>
                      </a:r>
                    </a:p>
                  </a:txBody>
                  <a:tcPr/>
                </a:tc>
                <a:tc>
                  <a:txBody>
                    <a:bodyPr/>
                    <a:lstStyle/>
                    <a:p>
                      <a:r>
                        <a:rPr lang="en-IN" dirty="0"/>
                        <a:t>Sec</a:t>
                      </a:r>
                    </a:p>
                  </a:txBody>
                  <a:tcPr/>
                </a:tc>
                <a:tc>
                  <a:txBody>
                    <a:bodyPr/>
                    <a:lstStyle/>
                    <a:p>
                      <a:r>
                        <a:rPr lang="en-IN" dirty="0"/>
                        <a:t>22.56</a:t>
                      </a:r>
                    </a:p>
                  </a:txBody>
                  <a:tcPr/>
                </a:tc>
                <a:tc>
                  <a:txBody>
                    <a:bodyPr/>
                    <a:lstStyle/>
                    <a:p>
                      <a:r>
                        <a:rPr lang="en-IN" dirty="0"/>
                        <a:t>17.22</a:t>
                      </a:r>
                    </a:p>
                  </a:txBody>
                  <a:tcPr/>
                </a:tc>
                <a:tc>
                  <a:txBody>
                    <a:bodyPr/>
                    <a:lstStyle/>
                    <a:p>
                      <a:r>
                        <a:rPr lang="en-IN" dirty="0"/>
                        <a:t>18.10</a:t>
                      </a:r>
                    </a:p>
                  </a:txBody>
                  <a:tcPr/>
                </a:tc>
                <a:tc>
                  <a:txBody>
                    <a:bodyPr/>
                    <a:lstStyle/>
                    <a:p>
                      <a:r>
                        <a:rPr lang="en-IN" dirty="0"/>
                        <a:t>14.06</a:t>
                      </a:r>
                    </a:p>
                  </a:txBody>
                  <a:tcPr/>
                </a:tc>
                <a:extLst>
                  <a:ext uri="{0D108BD9-81ED-4DB2-BD59-A6C34878D82A}">
                    <a16:rowId xmlns:a16="http://schemas.microsoft.com/office/drawing/2014/main" val="10003"/>
                  </a:ext>
                </a:extLst>
              </a:tr>
              <a:tr h="998463">
                <a:tc>
                  <a:txBody>
                    <a:bodyPr/>
                    <a:lstStyle/>
                    <a:p>
                      <a:r>
                        <a:rPr lang="en-IN" dirty="0"/>
                        <a:t>Exhaust temp. </a:t>
                      </a:r>
                    </a:p>
                  </a:txBody>
                  <a:tcPr/>
                </a:tc>
                <a:tc>
                  <a:txBody>
                    <a:bodyPr/>
                    <a:lstStyle/>
                    <a:p>
                      <a:r>
                        <a:rPr lang="en-IN" dirty="0"/>
                        <a:t>Degree C</a:t>
                      </a:r>
                    </a:p>
                  </a:txBody>
                  <a:tcPr/>
                </a:tc>
                <a:tc>
                  <a:txBody>
                    <a:bodyPr/>
                    <a:lstStyle/>
                    <a:p>
                      <a:r>
                        <a:rPr lang="en-IN" dirty="0"/>
                        <a:t>223</a:t>
                      </a:r>
                    </a:p>
                  </a:txBody>
                  <a:tcPr/>
                </a:tc>
                <a:tc>
                  <a:txBody>
                    <a:bodyPr/>
                    <a:lstStyle/>
                    <a:p>
                      <a:r>
                        <a:rPr lang="en-IN" dirty="0"/>
                        <a:t>242</a:t>
                      </a:r>
                    </a:p>
                  </a:txBody>
                  <a:tcPr/>
                </a:tc>
                <a:tc>
                  <a:txBody>
                    <a:bodyPr/>
                    <a:lstStyle/>
                    <a:p>
                      <a:r>
                        <a:rPr lang="en-IN" dirty="0"/>
                        <a:t>258</a:t>
                      </a:r>
                    </a:p>
                  </a:txBody>
                  <a:tcPr/>
                </a:tc>
                <a:tc>
                  <a:txBody>
                    <a:bodyPr/>
                    <a:lstStyle/>
                    <a:p>
                      <a:r>
                        <a:rPr lang="en-IN" dirty="0"/>
                        <a:t>286</a:t>
                      </a:r>
                    </a:p>
                  </a:txBody>
                  <a:tcPr/>
                </a:tc>
                <a:extLst>
                  <a:ext uri="{0D108BD9-81ED-4DB2-BD59-A6C34878D82A}">
                    <a16:rowId xmlns:a16="http://schemas.microsoft.com/office/drawing/2014/main" val="10004"/>
                  </a:ext>
                </a:extLst>
              </a:tr>
              <a:tr h="685100">
                <a:tc>
                  <a:txBody>
                    <a:bodyPr/>
                    <a:lstStyle/>
                    <a:p>
                      <a:r>
                        <a:rPr lang="en-IN" dirty="0"/>
                        <a:t>SFC </a:t>
                      </a:r>
                    </a:p>
                  </a:txBody>
                  <a:tcPr/>
                </a:tc>
                <a:tc>
                  <a:txBody>
                    <a:bodyPr/>
                    <a:lstStyle/>
                    <a:p>
                      <a:r>
                        <a:rPr lang="en-IN" dirty="0"/>
                        <a:t>Kg/kW-hr </a:t>
                      </a:r>
                    </a:p>
                  </a:txBody>
                  <a:tcPr/>
                </a:tc>
                <a:tc>
                  <a:txBody>
                    <a:bodyPr/>
                    <a:lstStyle/>
                    <a:p>
                      <a:r>
                        <a:rPr lang="en-US" dirty="0"/>
                        <a:t>0.3153</a:t>
                      </a:r>
                      <a:endParaRPr lang="en-IN" dirty="0"/>
                    </a:p>
                  </a:txBody>
                  <a:tcPr/>
                </a:tc>
                <a:tc>
                  <a:txBody>
                    <a:bodyPr/>
                    <a:lstStyle/>
                    <a:p>
                      <a:r>
                        <a:rPr lang="en-US" dirty="0"/>
                        <a:t>0.3159</a:t>
                      </a:r>
                      <a:endParaRPr lang="en-IN" dirty="0"/>
                    </a:p>
                  </a:txBody>
                  <a:tcPr/>
                </a:tc>
                <a:tc>
                  <a:txBody>
                    <a:bodyPr/>
                    <a:lstStyle/>
                    <a:p>
                      <a:r>
                        <a:rPr lang="en-US" dirty="0"/>
                        <a:t>0.2868</a:t>
                      </a:r>
                      <a:endParaRPr lang="en-IN" dirty="0"/>
                    </a:p>
                  </a:txBody>
                  <a:tcPr/>
                </a:tc>
                <a:tc>
                  <a:txBody>
                    <a:bodyPr/>
                    <a:lstStyle/>
                    <a:p>
                      <a:r>
                        <a:rPr lang="en-US" dirty="0"/>
                        <a:t>0.2813</a:t>
                      </a:r>
                      <a:endParaRPr lang="en-IN" dirty="0"/>
                    </a:p>
                  </a:txBody>
                  <a:tcPr/>
                </a:tc>
                <a:extLst>
                  <a:ext uri="{0D108BD9-81ED-4DB2-BD59-A6C34878D82A}">
                    <a16:rowId xmlns:a16="http://schemas.microsoft.com/office/drawing/2014/main" val="10005"/>
                  </a:ext>
                </a:extLst>
              </a:tr>
              <a:tr h="391486">
                <a:tc>
                  <a:txBody>
                    <a:bodyPr/>
                    <a:lstStyle/>
                    <a:p>
                      <a:r>
                        <a:rPr lang="en-IN" dirty="0"/>
                        <a:t>BP</a:t>
                      </a:r>
                    </a:p>
                  </a:txBody>
                  <a:tcPr/>
                </a:tc>
                <a:tc>
                  <a:txBody>
                    <a:bodyPr/>
                    <a:lstStyle/>
                    <a:p>
                      <a:r>
                        <a:rPr lang="en-IN" dirty="0"/>
                        <a:t>KW</a:t>
                      </a:r>
                    </a:p>
                  </a:txBody>
                  <a:tcPr/>
                </a:tc>
                <a:tc>
                  <a:txBody>
                    <a:bodyPr/>
                    <a:lstStyle/>
                    <a:p>
                      <a:r>
                        <a:rPr lang="en-IN" dirty="0"/>
                        <a:t>4.275</a:t>
                      </a:r>
                    </a:p>
                  </a:txBody>
                  <a:tcPr/>
                </a:tc>
                <a:tc>
                  <a:txBody>
                    <a:bodyPr/>
                    <a:lstStyle/>
                    <a:p>
                      <a:r>
                        <a:rPr lang="en-IN" dirty="0"/>
                        <a:t>5.590</a:t>
                      </a:r>
                    </a:p>
                  </a:txBody>
                  <a:tcPr/>
                </a:tc>
                <a:tc>
                  <a:txBody>
                    <a:bodyPr/>
                    <a:lstStyle/>
                    <a:p>
                      <a:r>
                        <a:rPr lang="en-IN" dirty="0"/>
                        <a:t>5.857</a:t>
                      </a:r>
                    </a:p>
                  </a:txBody>
                  <a:tcPr/>
                </a:tc>
                <a:tc>
                  <a:txBody>
                    <a:bodyPr/>
                    <a:lstStyle/>
                    <a:p>
                      <a:r>
                        <a:rPr lang="en-US" dirty="0"/>
                        <a:t>7</a:t>
                      </a:r>
                      <a:r>
                        <a:rPr lang="en-IN" dirty="0"/>
                        <a:t>.687</a:t>
                      </a:r>
                    </a:p>
                  </a:txBody>
                  <a:tcPr/>
                </a:tc>
                <a:extLst>
                  <a:ext uri="{0D108BD9-81ED-4DB2-BD59-A6C34878D82A}">
                    <a16:rowId xmlns:a16="http://schemas.microsoft.com/office/drawing/2014/main" val="10006"/>
                  </a:ext>
                </a:extLst>
              </a:tr>
              <a:tr h="685100">
                <a:tc>
                  <a:txBody>
                    <a:bodyPr/>
                    <a:lstStyle/>
                    <a:p>
                      <a:r>
                        <a:rPr lang="en-IN" dirty="0"/>
                        <a:t>BTE </a:t>
                      </a:r>
                    </a:p>
                  </a:txBody>
                  <a:tcPr/>
                </a:tc>
                <a:tc>
                  <a:txBody>
                    <a:bodyPr/>
                    <a:lstStyle/>
                    <a:p>
                      <a:r>
                        <a:rPr lang="en-IN" dirty="0"/>
                        <a:t>Percentage </a:t>
                      </a:r>
                    </a:p>
                  </a:txBody>
                  <a:tcPr/>
                </a:tc>
                <a:tc>
                  <a:txBody>
                    <a:bodyPr/>
                    <a:lstStyle/>
                    <a:p>
                      <a:r>
                        <a:rPr lang="en-IN" dirty="0"/>
                        <a:t>26.54</a:t>
                      </a:r>
                    </a:p>
                  </a:txBody>
                  <a:tcPr/>
                </a:tc>
                <a:tc>
                  <a:txBody>
                    <a:bodyPr/>
                    <a:lstStyle/>
                    <a:p>
                      <a:r>
                        <a:rPr lang="en-IN" dirty="0"/>
                        <a:t>26.49</a:t>
                      </a:r>
                    </a:p>
                  </a:txBody>
                  <a:tcPr/>
                </a:tc>
                <a:tc>
                  <a:txBody>
                    <a:bodyPr/>
                    <a:lstStyle/>
                    <a:p>
                      <a:r>
                        <a:rPr lang="en-IN" dirty="0"/>
                        <a:t>29.18</a:t>
                      </a:r>
                    </a:p>
                  </a:txBody>
                  <a:tcPr/>
                </a:tc>
                <a:tc>
                  <a:txBody>
                    <a:bodyPr/>
                    <a:lstStyle/>
                    <a:p>
                      <a:r>
                        <a:rPr lang="en-IN" dirty="0"/>
                        <a:t>29.74</a:t>
                      </a:r>
                    </a:p>
                  </a:txBody>
                  <a:tcPr/>
                </a:tc>
                <a:extLst>
                  <a:ext uri="{0D108BD9-81ED-4DB2-BD59-A6C34878D82A}">
                    <a16:rowId xmlns:a16="http://schemas.microsoft.com/office/drawing/2014/main" val="10007"/>
                  </a:ext>
                </a:extLst>
              </a:tr>
            </a:tbl>
          </a:graphicData>
        </a:graphic>
      </p:graphicFrame>
      <p:sp>
        <p:nvSpPr>
          <p:cNvPr id="5" name="TextBox 4"/>
          <p:cNvSpPr txBox="1"/>
          <p:nvPr/>
        </p:nvSpPr>
        <p:spPr>
          <a:xfrm>
            <a:off x="887504" y="638872"/>
            <a:ext cx="4320989" cy="369332"/>
          </a:xfrm>
          <a:prstGeom prst="rect">
            <a:avLst/>
          </a:prstGeom>
          <a:noFill/>
        </p:spPr>
        <p:txBody>
          <a:bodyPr wrap="square" rtlCol="0">
            <a:spAutoFit/>
          </a:bodyPr>
          <a:lstStyle/>
          <a:p>
            <a:r>
              <a:rPr lang="en-IN" b="1" u="sng" dirty="0"/>
              <a:t>B-10(10% Bio- Diesel+90% Diesel)</a:t>
            </a:r>
          </a:p>
        </p:txBody>
      </p:sp>
      <p:graphicFrame>
        <p:nvGraphicFramePr>
          <p:cNvPr id="6" name="Table 6"/>
          <p:cNvGraphicFramePr>
            <a:graphicFrameLocks noGrp="1"/>
          </p:cNvGraphicFramePr>
          <p:nvPr/>
        </p:nvGraphicFramePr>
        <p:xfrm>
          <a:off x="6517343" y="1073068"/>
          <a:ext cx="5453526" cy="5442106"/>
        </p:xfrm>
        <a:graphic>
          <a:graphicData uri="http://schemas.openxmlformats.org/drawingml/2006/table">
            <a:tbl>
              <a:tblPr firstRow="1" bandRow="1">
                <a:tableStyleId>{5C22544A-7EE6-4342-B048-85BDC9FD1C3A}</a:tableStyleId>
              </a:tblPr>
              <a:tblGrid>
                <a:gridCol w="908921">
                  <a:extLst>
                    <a:ext uri="{9D8B030D-6E8A-4147-A177-3AD203B41FA5}">
                      <a16:colId xmlns:a16="http://schemas.microsoft.com/office/drawing/2014/main" val="20000"/>
                    </a:ext>
                  </a:extLst>
                </a:gridCol>
                <a:gridCol w="908921">
                  <a:extLst>
                    <a:ext uri="{9D8B030D-6E8A-4147-A177-3AD203B41FA5}">
                      <a16:colId xmlns:a16="http://schemas.microsoft.com/office/drawing/2014/main" val="20001"/>
                    </a:ext>
                  </a:extLst>
                </a:gridCol>
                <a:gridCol w="908921">
                  <a:extLst>
                    <a:ext uri="{9D8B030D-6E8A-4147-A177-3AD203B41FA5}">
                      <a16:colId xmlns:a16="http://schemas.microsoft.com/office/drawing/2014/main" val="20002"/>
                    </a:ext>
                  </a:extLst>
                </a:gridCol>
                <a:gridCol w="908921">
                  <a:extLst>
                    <a:ext uri="{9D8B030D-6E8A-4147-A177-3AD203B41FA5}">
                      <a16:colId xmlns:a16="http://schemas.microsoft.com/office/drawing/2014/main" val="20003"/>
                    </a:ext>
                  </a:extLst>
                </a:gridCol>
                <a:gridCol w="908921">
                  <a:extLst>
                    <a:ext uri="{9D8B030D-6E8A-4147-A177-3AD203B41FA5}">
                      <a16:colId xmlns:a16="http://schemas.microsoft.com/office/drawing/2014/main" val="20004"/>
                    </a:ext>
                  </a:extLst>
                </a:gridCol>
                <a:gridCol w="908921">
                  <a:extLst>
                    <a:ext uri="{9D8B030D-6E8A-4147-A177-3AD203B41FA5}">
                      <a16:colId xmlns:a16="http://schemas.microsoft.com/office/drawing/2014/main" val="20005"/>
                    </a:ext>
                  </a:extLst>
                </a:gridCol>
              </a:tblGrid>
              <a:tr h="0">
                <a:tc>
                  <a:txBody>
                    <a:bodyPr/>
                    <a:lstStyle/>
                    <a:p>
                      <a:r>
                        <a:rPr lang="en-IN" dirty="0"/>
                        <a:t>SLNO. </a:t>
                      </a:r>
                    </a:p>
                  </a:txBody>
                  <a:tcPr/>
                </a:tc>
                <a:tc>
                  <a:txBody>
                    <a:bodyPr/>
                    <a:lstStyle/>
                    <a:p>
                      <a:r>
                        <a:rPr lang="en-IN" dirty="0"/>
                        <a:t>UNITS</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10000"/>
                  </a:ext>
                </a:extLst>
              </a:tr>
              <a:tr h="548306">
                <a:tc>
                  <a:txBody>
                    <a:bodyPr/>
                    <a:lstStyle/>
                    <a:p>
                      <a:r>
                        <a:rPr lang="en-IN" dirty="0"/>
                        <a:t>Load </a:t>
                      </a:r>
                    </a:p>
                  </a:txBody>
                  <a:tcPr/>
                </a:tc>
                <a:tc>
                  <a:txBody>
                    <a:bodyPr/>
                    <a:lstStyle/>
                    <a:p>
                      <a:r>
                        <a:rPr lang="en-IN" dirty="0"/>
                        <a:t>Kg</a:t>
                      </a:r>
                    </a:p>
                  </a:txBody>
                  <a:tcPr/>
                </a:tc>
                <a:tc>
                  <a:txBody>
                    <a:bodyPr/>
                    <a:lstStyle/>
                    <a:p>
                      <a:r>
                        <a:rPr lang="en-IN" dirty="0"/>
                        <a:t>16</a:t>
                      </a:r>
                    </a:p>
                  </a:txBody>
                  <a:tcPr/>
                </a:tc>
                <a:tc>
                  <a:txBody>
                    <a:bodyPr/>
                    <a:lstStyle/>
                    <a:p>
                      <a:r>
                        <a:rPr lang="en-IN" dirty="0"/>
                        <a:t>19</a:t>
                      </a:r>
                    </a:p>
                  </a:txBody>
                  <a:tcPr/>
                </a:tc>
                <a:tc>
                  <a:txBody>
                    <a:bodyPr/>
                    <a:lstStyle/>
                    <a:p>
                      <a:r>
                        <a:rPr lang="en-IN" dirty="0"/>
                        <a:t>19</a:t>
                      </a:r>
                    </a:p>
                  </a:txBody>
                  <a:tcPr/>
                </a:tc>
                <a:tc>
                  <a:txBody>
                    <a:bodyPr/>
                    <a:lstStyle/>
                    <a:p>
                      <a:r>
                        <a:rPr lang="en-IN" dirty="0"/>
                        <a:t>22</a:t>
                      </a:r>
                    </a:p>
                  </a:txBody>
                  <a:tcPr/>
                </a:tc>
                <a:extLst>
                  <a:ext uri="{0D108BD9-81ED-4DB2-BD59-A6C34878D82A}">
                    <a16:rowId xmlns:a16="http://schemas.microsoft.com/office/drawing/2014/main" val="10001"/>
                  </a:ext>
                </a:extLst>
              </a:tr>
              <a:tr h="428655">
                <a:tc>
                  <a:txBody>
                    <a:bodyPr/>
                    <a:lstStyle/>
                    <a:p>
                      <a:r>
                        <a:rPr lang="en-IN" dirty="0"/>
                        <a:t>RPM</a:t>
                      </a:r>
                    </a:p>
                  </a:txBody>
                  <a:tcPr/>
                </a:tc>
                <a:tc>
                  <a:txBody>
                    <a:bodyPr/>
                    <a:lstStyle/>
                    <a:p>
                      <a:r>
                        <a:rPr lang="en-IN" dirty="0"/>
                        <a:t>Rpm</a:t>
                      </a:r>
                    </a:p>
                  </a:txBody>
                  <a:tcPr/>
                </a:tc>
                <a:tc>
                  <a:txBody>
                    <a:bodyPr/>
                    <a:lstStyle/>
                    <a:p>
                      <a:r>
                        <a:rPr lang="en-IN" dirty="0"/>
                        <a:t>1500</a:t>
                      </a:r>
                    </a:p>
                  </a:txBody>
                  <a:tcPr/>
                </a:tc>
                <a:tc>
                  <a:txBody>
                    <a:bodyPr/>
                    <a:lstStyle/>
                    <a:p>
                      <a:r>
                        <a:rPr lang="en-IN" dirty="0"/>
                        <a:t>1300</a:t>
                      </a:r>
                    </a:p>
                  </a:txBody>
                  <a:tcPr/>
                </a:tc>
                <a:tc>
                  <a:txBody>
                    <a:bodyPr/>
                    <a:lstStyle/>
                    <a:p>
                      <a:r>
                        <a:rPr lang="en-IN" dirty="0"/>
                        <a:t>1700</a:t>
                      </a:r>
                    </a:p>
                  </a:txBody>
                  <a:tcPr/>
                </a:tc>
                <a:tc>
                  <a:txBody>
                    <a:bodyPr/>
                    <a:lstStyle/>
                    <a:p>
                      <a:r>
                        <a:rPr lang="en-IN" dirty="0"/>
                        <a:t>1500</a:t>
                      </a:r>
                    </a:p>
                  </a:txBody>
                  <a:tcPr/>
                </a:tc>
                <a:extLst>
                  <a:ext uri="{0D108BD9-81ED-4DB2-BD59-A6C34878D82A}">
                    <a16:rowId xmlns:a16="http://schemas.microsoft.com/office/drawing/2014/main" val="10002"/>
                  </a:ext>
                </a:extLst>
              </a:tr>
              <a:tr h="1253270">
                <a:tc>
                  <a:txBody>
                    <a:bodyPr/>
                    <a:lstStyle/>
                    <a:p>
                      <a:r>
                        <a:rPr lang="en-IN" dirty="0"/>
                        <a:t>10CC Fuel flow time </a:t>
                      </a:r>
                    </a:p>
                  </a:txBody>
                  <a:tcPr/>
                </a:tc>
                <a:tc>
                  <a:txBody>
                    <a:bodyPr/>
                    <a:lstStyle/>
                    <a:p>
                      <a:r>
                        <a:rPr lang="en-IN" dirty="0"/>
                        <a:t>Sec</a:t>
                      </a:r>
                    </a:p>
                  </a:txBody>
                  <a:tcPr/>
                </a:tc>
                <a:tc>
                  <a:txBody>
                    <a:bodyPr/>
                    <a:lstStyle/>
                    <a:p>
                      <a:r>
                        <a:rPr lang="en-IN" dirty="0"/>
                        <a:t>20.03</a:t>
                      </a:r>
                    </a:p>
                  </a:txBody>
                  <a:tcPr/>
                </a:tc>
                <a:tc>
                  <a:txBody>
                    <a:bodyPr/>
                    <a:lstStyle/>
                    <a:p>
                      <a:r>
                        <a:rPr lang="en-IN" dirty="0"/>
                        <a:t>20.15</a:t>
                      </a:r>
                    </a:p>
                  </a:txBody>
                  <a:tcPr/>
                </a:tc>
                <a:tc>
                  <a:txBody>
                    <a:bodyPr/>
                    <a:lstStyle/>
                    <a:p>
                      <a:r>
                        <a:rPr lang="en-IN" dirty="0"/>
                        <a:t>15.46</a:t>
                      </a:r>
                    </a:p>
                  </a:txBody>
                  <a:tcPr/>
                </a:tc>
                <a:tc>
                  <a:txBody>
                    <a:bodyPr/>
                    <a:lstStyle/>
                    <a:p>
                      <a:r>
                        <a:rPr lang="en-IN" dirty="0"/>
                        <a:t>15.60</a:t>
                      </a:r>
                    </a:p>
                  </a:txBody>
                  <a:tcPr/>
                </a:tc>
                <a:extLst>
                  <a:ext uri="{0D108BD9-81ED-4DB2-BD59-A6C34878D82A}">
                    <a16:rowId xmlns:a16="http://schemas.microsoft.com/office/drawing/2014/main" val="10003"/>
                  </a:ext>
                </a:extLst>
              </a:tr>
              <a:tr h="1137300">
                <a:tc>
                  <a:txBody>
                    <a:bodyPr/>
                    <a:lstStyle/>
                    <a:p>
                      <a:r>
                        <a:rPr lang="en-IN" dirty="0"/>
                        <a:t>Exhaust temp.</a:t>
                      </a:r>
                    </a:p>
                  </a:txBody>
                  <a:tcPr/>
                </a:tc>
                <a:tc>
                  <a:txBody>
                    <a:bodyPr/>
                    <a:lstStyle/>
                    <a:p>
                      <a:r>
                        <a:rPr lang="en-IN" dirty="0"/>
                        <a:t>Degree C</a:t>
                      </a:r>
                    </a:p>
                  </a:txBody>
                  <a:tcPr/>
                </a:tc>
                <a:tc>
                  <a:txBody>
                    <a:bodyPr/>
                    <a:lstStyle/>
                    <a:p>
                      <a:r>
                        <a:rPr lang="en-IN" dirty="0"/>
                        <a:t>223</a:t>
                      </a:r>
                    </a:p>
                  </a:txBody>
                  <a:tcPr/>
                </a:tc>
                <a:tc>
                  <a:txBody>
                    <a:bodyPr/>
                    <a:lstStyle/>
                    <a:p>
                      <a:r>
                        <a:rPr lang="en-IN" dirty="0"/>
                        <a:t>235</a:t>
                      </a:r>
                    </a:p>
                  </a:txBody>
                  <a:tcPr/>
                </a:tc>
                <a:tc>
                  <a:txBody>
                    <a:bodyPr/>
                    <a:lstStyle/>
                    <a:p>
                      <a:r>
                        <a:rPr lang="en-IN" dirty="0"/>
                        <a:t>251</a:t>
                      </a:r>
                    </a:p>
                  </a:txBody>
                  <a:tcPr/>
                </a:tc>
                <a:tc>
                  <a:txBody>
                    <a:bodyPr/>
                    <a:lstStyle/>
                    <a:p>
                      <a:r>
                        <a:rPr lang="en-IN" dirty="0"/>
                        <a:t>272</a:t>
                      </a:r>
                    </a:p>
                  </a:txBody>
                  <a:tcPr/>
                </a:tc>
                <a:extLst>
                  <a:ext uri="{0D108BD9-81ED-4DB2-BD59-A6C34878D82A}">
                    <a16:rowId xmlns:a16="http://schemas.microsoft.com/office/drawing/2014/main" val="10004"/>
                  </a:ext>
                </a:extLst>
              </a:tr>
              <a:tr h="612392">
                <a:tc>
                  <a:txBody>
                    <a:bodyPr/>
                    <a:lstStyle/>
                    <a:p>
                      <a:r>
                        <a:rPr lang="en-IN" dirty="0"/>
                        <a:t>SFC</a:t>
                      </a:r>
                    </a:p>
                  </a:txBody>
                  <a:tcPr/>
                </a:tc>
                <a:tc>
                  <a:txBody>
                    <a:bodyPr/>
                    <a:lstStyle/>
                    <a:p>
                      <a:r>
                        <a:rPr lang="en-IN" dirty="0"/>
                        <a:t>Kg/kW-hr</a:t>
                      </a:r>
                    </a:p>
                  </a:txBody>
                  <a:tcPr/>
                </a:tc>
                <a:tc>
                  <a:txBody>
                    <a:bodyPr/>
                    <a:lstStyle/>
                    <a:p>
                      <a:r>
                        <a:rPr lang="en-US" dirty="0"/>
                        <a:t>0.3081</a:t>
                      </a:r>
                      <a:endParaRPr lang="en-IN" dirty="0"/>
                    </a:p>
                  </a:txBody>
                  <a:tcPr/>
                </a:tc>
                <a:tc>
                  <a:txBody>
                    <a:bodyPr/>
                    <a:lstStyle/>
                    <a:p>
                      <a:r>
                        <a:rPr lang="en-US" dirty="0"/>
                        <a:t>0.2976</a:t>
                      </a:r>
                      <a:endParaRPr lang="en-IN" dirty="0"/>
                    </a:p>
                  </a:txBody>
                  <a:tcPr/>
                </a:tc>
                <a:tc>
                  <a:txBody>
                    <a:bodyPr/>
                    <a:lstStyle/>
                    <a:p>
                      <a:r>
                        <a:rPr lang="en-US" dirty="0"/>
                        <a:t>0.2966</a:t>
                      </a:r>
                      <a:endParaRPr lang="en-IN" dirty="0"/>
                    </a:p>
                  </a:txBody>
                  <a:tcPr/>
                </a:tc>
                <a:tc>
                  <a:txBody>
                    <a:bodyPr/>
                    <a:lstStyle/>
                    <a:p>
                      <a:r>
                        <a:rPr lang="en-US" dirty="0"/>
                        <a:t>0.2877</a:t>
                      </a:r>
                      <a:endParaRPr lang="en-IN" dirty="0"/>
                    </a:p>
                  </a:txBody>
                  <a:tcPr/>
                </a:tc>
                <a:extLst>
                  <a:ext uri="{0D108BD9-81ED-4DB2-BD59-A6C34878D82A}">
                    <a16:rowId xmlns:a16="http://schemas.microsoft.com/office/drawing/2014/main" val="10005"/>
                  </a:ext>
                </a:extLst>
              </a:tr>
              <a:tr h="428655">
                <a:tc>
                  <a:txBody>
                    <a:bodyPr/>
                    <a:lstStyle/>
                    <a:p>
                      <a:r>
                        <a:rPr lang="en-IN" dirty="0"/>
                        <a:t>BP</a:t>
                      </a:r>
                    </a:p>
                  </a:txBody>
                  <a:tcPr/>
                </a:tc>
                <a:tc>
                  <a:txBody>
                    <a:bodyPr/>
                    <a:lstStyle/>
                    <a:p>
                      <a:r>
                        <a:rPr lang="en-IN" dirty="0"/>
                        <a:t>Kw</a:t>
                      </a:r>
                    </a:p>
                  </a:txBody>
                  <a:tcPr/>
                </a:tc>
                <a:tc>
                  <a:txBody>
                    <a:bodyPr/>
                    <a:lstStyle/>
                    <a:p>
                      <a:r>
                        <a:rPr lang="en-IN" dirty="0"/>
                        <a:t>4.933</a:t>
                      </a:r>
                    </a:p>
                  </a:txBody>
                  <a:tcPr/>
                </a:tc>
                <a:tc>
                  <a:txBody>
                    <a:bodyPr/>
                    <a:lstStyle/>
                    <a:p>
                      <a:r>
                        <a:rPr lang="en-IN" dirty="0"/>
                        <a:t>5.076</a:t>
                      </a:r>
                    </a:p>
                  </a:txBody>
                  <a:tcPr/>
                </a:tc>
                <a:tc>
                  <a:txBody>
                    <a:bodyPr/>
                    <a:lstStyle/>
                    <a:p>
                      <a:r>
                        <a:rPr lang="en-IN" dirty="0"/>
                        <a:t>6.639</a:t>
                      </a:r>
                    </a:p>
                  </a:txBody>
                  <a:tcPr/>
                </a:tc>
                <a:tc>
                  <a:txBody>
                    <a:bodyPr/>
                    <a:lstStyle/>
                    <a:p>
                      <a:r>
                        <a:rPr lang="en-IN" dirty="0"/>
                        <a:t>6.782</a:t>
                      </a:r>
                    </a:p>
                  </a:txBody>
                  <a:tcPr/>
                </a:tc>
                <a:extLst>
                  <a:ext uri="{0D108BD9-81ED-4DB2-BD59-A6C34878D82A}">
                    <a16:rowId xmlns:a16="http://schemas.microsoft.com/office/drawing/2014/main" val="10006"/>
                  </a:ext>
                </a:extLst>
              </a:tr>
              <a:tr h="0">
                <a:tc>
                  <a:txBody>
                    <a:bodyPr/>
                    <a:lstStyle/>
                    <a:p>
                      <a:r>
                        <a:rPr lang="en-IN" dirty="0"/>
                        <a:t>BTE</a:t>
                      </a:r>
                    </a:p>
                  </a:txBody>
                  <a:tcPr/>
                </a:tc>
                <a:tc>
                  <a:txBody>
                    <a:bodyPr/>
                    <a:lstStyle/>
                    <a:p>
                      <a:r>
                        <a:rPr lang="en-IN" dirty="0"/>
                        <a:t>Percentage </a:t>
                      </a:r>
                    </a:p>
                  </a:txBody>
                  <a:tcPr/>
                </a:tc>
                <a:tc>
                  <a:txBody>
                    <a:bodyPr/>
                    <a:lstStyle/>
                    <a:p>
                      <a:r>
                        <a:rPr lang="en-IN" dirty="0"/>
                        <a:t>27.48</a:t>
                      </a:r>
                    </a:p>
                  </a:txBody>
                  <a:tcPr/>
                </a:tc>
                <a:tc>
                  <a:txBody>
                    <a:bodyPr/>
                    <a:lstStyle/>
                    <a:p>
                      <a:r>
                        <a:rPr lang="en-IN" dirty="0"/>
                        <a:t>28.45</a:t>
                      </a:r>
                    </a:p>
                  </a:txBody>
                  <a:tcPr/>
                </a:tc>
                <a:tc>
                  <a:txBody>
                    <a:bodyPr/>
                    <a:lstStyle/>
                    <a:p>
                      <a:r>
                        <a:rPr lang="en-IN" dirty="0"/>
                        <a:t>28.54</a:t>
                      </a:r>
                    </a:p>
                  </a:txBody>
                  <a:tcPr/>
                </a:tc>
                <a:tc>
                  <a:txBody>
                    <a:bodyPr/>
                    <a:lstStyle/>
                    <a:p>
                      <a:r>
                        <a:rPr lang="en-IN" dirty="0"/>
                        <a:t>29.43</a:t>
                      </a:r>
                    </a:p>
                  </a:txBody>
                  <a:tcPr/>
                </a:tc>
                <a:extLst>
                  <a:ext uri="{0D108BD9-81ED-4DB2-BD59-A6C34878D82A}">
                    <a16:rowId xmlns:a16="http://schemas.microsoft.com/office/drawing/2014/main" val="10007"/>
                  </a:ext>
                </a:extLst>
              </a:tr>
            </a:tbl>
          </a:graphicData>
        </a:graphic>
      </p:graphicFrame>
      <p:sp>
        <p:nvSpPr>
          <p:cNvPr id="7" name="TextBox 6"/>
          <p:cNvSpPr txBox="1"/>
          <p:nvPr/>
        </p:nvSpPr>
        <p:spPr>
          <a:xfrm>
            <a:off x="7216589" y="638872"/>
            <a:ext cx="4087906" cy="369332"/>
          </a:xfrm>
          <a:prstGeom prst="rect">
            <a:avLst/>
          </a:prstGeom>
          <a:noFill/>
        </p:spPr>
        <p:txBody>
          <a:bodyPr wrap="square" rtlCol="0">
            <a:spAutoFit/>
          </a:bodyPr>
          <a:lstStyle/>
          <a:p>
            <a:r>
              <a:rPr lang="en-IN" b="1" u="sng" dirty="0"/>
              <a:t>B-15(15% Bio-diesel+85% Diesel)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8941"/>
            <a:ext cx="7969624" cy="523220"/>
          </a:xfrm>
          <a:prstGeom prst="rect">
            <a:avLst/>
          </a:prstGeom>
          <a:noFill/>
        </p:spPr>
        <p:txBody>
          <a:bodyPr wrap="square" rtlCol="0">
            <a:spAutoFit/>
          </a:bodyPr>
          <a:lstStyle/>
          <a:p>
            <a:r>
              <a:rPr lang="en-IN" sz="2800" b="1" dirty="0">
                <a:latin typeface="Adobe Heiti Std R" panose="020B0400000000000000" pitchFamily="34" charset="-128"/>
                <a:ea typeface="Adobe Heiti Std R" panose="020B0400000000000000" pitchFamily="34" charset="-128"/>
              </a:rPr>
              <a:t>COMPARISON OF PERFORMANCE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 y="1382344"/>
            <a:ext cx="8077954" cy="5104362"/>
          </a:xfrm>
          <a:prstGeom prst="rect">
            <a:avLst/>
          </a:prstGeom>
        </p:spPr>
      </p:pic>
      <p:sp>
        <p:nvSpPr>
          <p:cNvPr id="5" name="TextBox 4"/>
          <p:cNvSpPr txBox="1"/>
          <p:nvPr/>
        </p:nvSpPr>
        <p:spPr>
          <a:xfrm>
            <a:off x="3594847" y="1013012"/>
            <a:ext cx="2922491" cy="369332"/>
          </a:xfrm>
          <a:prstGeom prst="rect">
            <a:avLst/>
          </a:prstGeom>
          <a:noFill/>
        </p:spPr>
        <p:txBody>
          <a:bodyPr wrap="square" rtlCol="0">
            <a:spAutoFit/>
          </a:bodyPr>
          <a:lstStyle/>
          <a:p>
            <a:pPr algn="ctr"/>
            <a:r>
              <a:rPr lang="en-US" b="1" u="sng" dirty="0"/>
              <a:t>BSFC VS BP</a:t>
            </a:r>
            <a:endParaRPr lang="en-IN" b="1" u="sng"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232193"/>
            <a:ext cx="6096000" cy="523220"/>
          </a:xfrm>
          <a:prstGeom prst="rect">
            <a:avLst/>
          </a:prstGeom>
          <a:noFill/>
        </p:spPr>
        <p:txBody>
          <a:bodyPr wrap="square">
            <a:spAutoFit/>
          </a:bodyPr>
          <a:lstStyle/>
          <a:p>
            <a:r>
              <a:rPr lang="en-IN" sz="2800" b="1" dirty="0">
                <a:latin typeface="Adobe Heiti Std R" panose="020B0400000000000000" pitchFamily="34" charset="-128"/>
                <a:ea typeface="Adobe Heiti Std R" panose="020B0400000000000000" pitchFamily="34" charset="-128"/>
              </a:rPr>
              <a:t>COMPARISON OF PERFORMANCE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072" y="1409524"/>
            <a:ext cx="8964704" cy="4991275"/>
          </a:xfrm>
          <a:prstGeom prst="rect">
            <a:avLst/>
          </a:prstGeom>
        </p:spPr>
      </p:pic>
      <p:sp>
        <p:nvSpPr>
          <p:cNvPr id="6" name="TextBox 5"/>
          <p:cNvSpPr txBox="1"/>
          <p:nvPr/>
        </p:nvSpPr>
        <p:spPr>
          <a:xfrm>
            <a:off x="3218330" y="1040192"/>
            <a:ext cx="4303059" cy="369332"/>
          </a:xfrm>
          <a:prstGeom prst="rect">
            <a:avLst/>
          </a:prstGeom>
          <a:noFill/>
        </p:spPr>
        <p:txBody>
          <a:bodyPr wrap="square" rtlCol="0">
            <a:spAutoFit/>
          </a:bodyPr>
          <a:lstStyle/>
          <a:p>
            <a:r>
              <a:rPr lang="en-US" b="1" u="sng" dirty="0"/>
              <a:t>BRAKE THERMAL EFFICIENCY VS BP</a:t>
            </a:r>
            <a:endParaRPr lang="en-IN" b="1" u="sng"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56382"/>
            <a:ext cx="6185647" cy="523220"/>
          </a:xfrm>
          <a:prstGeom prst="rect">
            <a:avLst/>
          </a:prstGeom>
          <a:noFill/>
        </p:spPr>
        <p:txBody>
          <a:bodyPr wrap="square" rtlCol="0">
            <a:spAutoFit/>
          </a:bodyPr>
          <a:lstStyle/>
          <a:p>
            <a:r>
              <a:rPr lang="en-US" sz="2800" b="1" dirty="0">
                <a:latin typeface="Adobe Heiti Std R" panose="020B0400000000000000" pitchFamily="34" charset="-128"/>
                <a:ea typeface="Adobe Heiti Std R" panose="020B0400000000000000" pitchFamily="34" charset="-128"/>
              </a:rPr>
              <a:t>FINAL TABLE AFTER OPTIMIZATION</a:t>
            </a:r>
            <a:endParaRPr lang="en-IN" sz="2800" b="1" dirty="0">
              <a:latin typeface="Adobe Heiti Std R" panose="020B0400000000000000" pitchFamily="34" charset="-128"/>
              <a:ea typeface="Adobe Heiti Std R" panose="020B0400000000000000" pitchFamily="34" charset="-128"/>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706" y="1578535"/>
            <a:ext cx="8740588" cy="426479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0330" y="259976"/>
            <a:ext cx="3729318" cy="523220"/>
          </a:xfrm>
          <a:prstGeom prst="rect">
            <a:avLst/>
          </a:prstGeom>
          <a:noFill/>
        </p:spPr>
        <p:txBody>
          <a:bodyPr wrap="square" rtlCol="0">
            <a:spAutoFit/>
          </a:bodyPr>
          <a:lstStyle/>
          <a:p>
            <a:r>
              <a:rPr lang="en-IN" sz="2800" b="1" dirty="0">
                <a:latin typeface="Adobe Heiti Std R" panose="020B0400000000000000" pitchFamily="34" charset="-128"/>
                <a:ea typeface="Adobe Heiti Std R" panose="020B0400000000000000" pitchFamily="34" charset="-128"/>
              </a:rPr>
              <a:t>CONCLUSION</a:t>
            </a:r>
          </a:p>
        </p:txBody>
      </p:sp>
      <p:sp>
        <p:nvSpPr>
          <p:cNvPr id="5" name="TextBox 4"/>
          <p:cNvSpPr txBox="1"/>
          <p:nvPr/>
        </p:nvSpPr>
        <p:spPr>
          <a:xfrm>
            <a:off x="475131" y="4238713"/>
            <a:ext cx="5091953" cy="523220"/>
          </a:xfrm>
          <a:prstGeom prst="rect">
            <a:avLst/>
          </a:prstGeom>
          <a:noFill/>
        </p:spPr>
        <p:txBody>
          <a:bodyPr wrap="square" rtlCol="0">
            <a:spAutoFit/>
          </a:bodyPr>
          <a:lstStyle/>
          <a:p>
            <a:r>
              <a:rPr lang="en-IN" sz="2800" b="1" u="sng" dirty="0">
                <a:solidFill>
                  <a:srgbClr val="FFFF00"/>
                </a:solidFill>
                <a:latin typeface="Adobe Heiti Std R" panose="020B0400000000000000" pitchFamily="34" charset="-128"/>
                <a:ea typeface="Adobe Heiti Std R" panose="020B0400000000000000" pitchFamily="34" charset="-128"/>
              </a:rPr>
              <a:t>FUTURE SCOPE OF WORK</a:t>
            </a:r>
          </a:p>
        </p:txBody>
      </p:sp>
      <p:sp>
        <p:nvSpPr>
          <p:cNvPr id="3" name="TextBox 2"/>
          <p:cNvSpPr txBox="1"/>
          <p:nvPr/>
        </p:nvSpPr>
        <p:spPr>
          <a:xfrm>
            <a:off x="448235" y="941294"/>
            <a:ext cx="9995647" cy="3139321"/>
          </a:xfrm>
          <a:prstGeom prst="rect">
            <a:avLst/>
          </a:prstGeom>
          <a:noFill/>
        </p:spPr>
        <p:txBody>
          <a:bodyPr wrap="square" rtlCol="0">
            <a:spAutoFit/>
          </a:bodyPr>
          <a:lstStyle/>
          <a:p>
            <a:r>
              <a:rPr lang="en-US" dirty="0"/>
              <a:t>According to the optimization tool it has been found that at 5% blend , 16kg load and 1500rpm the engine gives best results therefore it has been denoted as rank one.</a:t>
            </a:r>
          </a:p>
          <a:p>
            <a:endParaRPr lang="en-US" dirty="0"/>
          </a:p>
          <a:p>
            <a:r>
              <a:rPr lang="en-US" dirty="0"/>
              <a:t> Biodiesel can easily replace conventional diesel when used in 15% blend without any modification of engine.</a:t>
            </a:r>
          </a:p>
          <a:p>
            <a:endParaRPr lang="en-US" dirty="0"/>
          </a:p>
          <a:p>
            <a:r>
              <a:rPr lang="en-US" dirty="0"/>
              <a:t> Biodiesel properties improve on high loads. 15% blended biodiesel can decreases heat input as compared to normal diesel.</a:t>
            </a:r>
          </a:p>
          <a:p>
            <a:endParaRPr lang="en-US" dirty="0"/>
          </a:p>
          <a:p>
            <a:r>
              <a:rPr lang="en-US" dirty="0"/>
              <a:t>Fuel consumption is almost similar to normal diesel at heavy loads.. Biodiesel can minimize the heat loss from exhaust gas.</a:t>
            </a:r>
            <a:endParaRPr lang="en-IN" dirty="0"/>
          </a:p>
        </p:txBody>
      </p:sp>
      <p:sp>
        <p:nvSpPr>
          <p:cNvPr id="9" name="TextBox 8"/>
          <p:cNvSpPr txBox="1"/>
          <p:nvPr/>
        </p:nvSpPr>
        <p:spPr>
          <a:xfrm>
            <a:off x="475131" y="4920031"/>
            <a:ext cx="10228729" cy="1477328"/>
          </a:xfrm>
          <a:prstGeom prst="rect">
            <a:avLst/>
          </a:prstGeom>
          <a:noFill/>
        </p:spPr>
        <p:txBody>
          <a:bodyPr wrap="square" rtlCol="0">
            <a:spAutoFit/>
          </a:bodyPr>
          <a:lstStyle/>
          <a:p>
            <a:r>
              <a:rPr lang="en-US" dirty="0"/>
              <a:t>Due to unavailability of the pollution testing machine we were unable to measure the engine emission standards by using our own prepared bio-diesel. So, in future we will conduct the engine emission test in which Exhaust gas analyzer would be used to calculate the values like, </a:t>
            </a:r>
            <a:r>
              <a:rPr lang="en-US" b="1" dirty="0">
                <a:solidFill>
                  <a:srgbClr val="FF0000"/>
                </a:solidFill>
              </a:rPr>
              <a:t>Hydrocarbon (HC)</a:t>
            </a:r>
            <a:r>
              <a:rPr lang="en-US" b="1" dirty="0"/>
              <a:t>, </a:t>
            </a:r>
            <a:r>
              <a:rPr lang="en-US" b="1" dirty="0">
                <a:solidFill>
                  <a:srgbClr val="C00000"/>
                </a:solidFill>
              </a:rPr>
              <a:t>Monoxide of Carbon (CO) </a:t>
            </a:r>
            <a:r>
              <a:rPr lang="en-US" dirty="0"/>
              <a:t>and </a:t>
            </a:r>
            <a:r>
              <a:rPr lang="en-US" b="1" dirty="0">
                <a:solidFill>
                  <a:srgbClr val="C00000"/>
                </a:solidFill>
              </a:rPr>
              <a:t>NO</a:t>
            </a:r>
            <a:r>
              <a:rPr lang="en-US" b="1" baseline="-25000" dirty="0">
                <a:solidFill>
                  <a:srgbClr val="C00000"/>
                </a:solidFill>
              </a:rPr>
              <a:t>x</a:t>
            </a:r>
            <a:r>
              <a:rPr lang="en-US" dirty="0"/>
              <a:t> and check for reduction in emissions as compared to normal diesel. </a:t>
            </a:r>
            <a:endParaRPr lang="en-IN" dirty="0"/>
          </a:p>
        </p:txBody>
      </p:sp>
      <p:sp>
        <p:nvSpPr>
          <p:cNvPr id="10" name="Star: 5 Points 9"/>
          <p:cNvSpPr/>
          <p:nvPr/>
        </p:nvSpPr>
        <p:spPr>
          <a:xfrm>
            <a:off x="170330" y="1775012"/>
            <a:ext cx="385482" cy="28687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tar: 5 Points 10"/>
          <p:cNvSpPr/>
          <p:nvPr/>
        </p:nvSpPr>
        <p:spPr>
          <a:xfrm>
            <a:off x="143435" y="2593651"/>
            <a:ext cx="376519" cy="28687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Star: 5 Points 11"/>
          <p:cNvSpPr/>
          <p:nvPr/>
        </p:nvSpPr>
        <p:spPr>
          <a:xfrm>
            <a:off x="143435" y="3412290"/>
            <a:ext cx="376519" cy="28687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2729" y="286871"/>
            <a:ext cx="3388659" cy="523220"/>
          </a:xfrm>
          <a:prstGeom prst="rect">
            <a:avLst/>
          </a:prstGeom>
          <a:noFill/>
        </p:spPr>
        <p:txBody>
          <a:bodyPr wrap="square" rtlCol="0">
            <a:spAutoFit/>
          </a:bodyPr>
          <a:lstStyle/>
          <a:p>
            <a:r>
              <a:rPr lang="en-IN" sz="2800" dirty="0">
                <a:latin typeface="Adobe Heiti Std R" panose="020B0400000000000000" pitchFamily="34" charset="-128"/>
                <a:ea typeface="Adobe Heiti Std R" panose="020B0400000000000000" pitchFamily="34" charset="-128"/>
              </a:rPr>
              <a:t>REFERENCES</a:t>
            </a:r>
          </a:p>
        </p:txBody>
      </p:sp>
      <p:sp>
        <p:nvSpPr>
          <p:cNvPr id="3" name="TextBox 2"/>
          <p:cNvSpPr txBox="1"/>
          <p:nvPr/>
        </p:nvSpPr>
        <p:spPr>
          <a:xfrm>
            <a:off x="322729" y="1183341"/>
            <a:ext cx="11044517" cy="4770537"/>
          </a:xfrm>
          <a:prstGeom prst="rect">
            <a:avLst/>
          </a:prstGeom>
          <a:noFill/>
        </p:spPr>
        <p:txBody>
          <a:bodyPr wrap="square" rtlCol="0">
            <a:spAutoFit/>
          </a:bodyPr>
          <a:lstStyle/>
          <a:p>
            <a:r>
              <a:rPr lang="en-IN" sz="1600" dirty="0"/>
              <a:t>[1]X. Chen et al., “Optimisation of the conversion of waste cooking oil into biodiesel,” Strathclyde Institute of Pharmacy and Biomedical Sciences, University of Strathclyde, The John ArbuthnottBuilding, 27 Taylor Street, Glasgow, G4 0NR, Scotland.</a:t>
            </a:r>
          </a:p>
          <a:p>
            <a:endParaRPr lang="en-IN" sz="1600" dirty="0"/>
          </a:p>
          <a:p>
            <a:r>
              <a:rPr lang="en-IN" sz="1600" dirty="0"/>
              <a:t>[2]^ Piyanuch Nakpong , Sasiwimol Wootthikanokkhan (2009),’ Optimization of biodieselproduction from Jatropha curcas L. oil via alkali-</a:t>
            </a:r>
            <a:r>
              <a:rPr lang="en-IN" sz="1600" dirty="0" err="1"/>
              <a:t>catalyzed</a:t>
            </a:r>
            <a:r>
              <a:rPr lang="en-IN" sz="1600" dirty="0"/>
              <a:t> methanolysis’.</a:t>
            </a:r>
          </a:p>
          <a:p>
            <a:endParaRPr lang="en-IN" sz="1600" dirty="0"/>
          </a:p>
          <a:p>
            <a:r>
              <a:rPr lang="en-IN" sz="1600" dirty="0"/>
              <a:t>[3] ^ S.L.Sinha ,R.K.Yadav (2010)’ Performance of diesel engine using blends of conventional diesel and jatropha biodiesel as alternative fuel for clean environment’, International Journal for Research InEmerging Science And Technology, Volume 2, Issue 2, Feb 15, pp 8-15 (E-ISSN 2349-7610).</a:t>
            </a:r>
          </a:p>
          <a:p>
            <a:endParaRPr lang="en-IN" sz="1600" dirty="0"/>
          </a:p>
          <a:p>
            <a:r>
              <a:rPr lang="en-IN" sz="1600" dirty="0"/>
              <a:t>[4]^ Hamed M. El-</a:t>
            </a:r>
            <a:r>
              <a:rPr lang="en-IN" sz="1600" dirty="0" err="1"/>
              <a:t>Mashad</a:t>
            </a:r>
            <a:r>
              <a:rPr lang="en-IN" sz="1600" dirty="0"/>
              <a:t> et al. (2008),’ A two-step process for biodiesel production from salmon oil’.</a:t>
            </a:r>
          </a:p>
          <a:p>
            <a:endParaRPr lang="en-IN" sz="1600" dirty="0"/>
          </a:p>
          <a:p>
            <a:r>
              <a:rPr lang="en-IN" sz="1600" dirty="0"/>
              <a:t>[5]^ P.K. Sahoo et. al.(2006),’ Biodiesel development from high acid value polanga seed oil and performance evaluation in a CI engine’.</a:t>
            </a:r>
          </a:p>
          <a:p>
            <a:endParaRPr lang="en-IN" sz="1600" dirty="0"/>
          </a:p>
          <a:p>
            <a:r>
              <a:rPr lang="en-IN" sz="1600" dirty="0"/>
              <a:t>[6]^ Daniela Russi(2008) , ‘An integrated assessment of a large-scale biodieselproduction in Italy: Killing several birds with one stone?’</a:t>
            </a:r>
          </a:p>
          <a:p>
            <a:endParaRPr lang="en-IN"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55576" y="2120187"/>
            <a:ext cx="5880847" cy="2800767"/>
          </a:xfrm>
          <a:prstGeom prst="rect">
            <a:avLst/>
          </a:prstGeom>
          <a:noFill/>
        </p:spPr>
        <p:txBody>
          <a:bodyPr wrap="square" rtlCol="0">
            <a:spAutoFit/>
          </a:bodyPr>
          <a:lstStyle/>
          <a:p>
            <a:pPr algn="ctr"/>
            <a:r>
              <a:rPr lang="en-IN" sz="8800" b="1" dirty="0">
                <a:solidFill>
                  <a:schemeClr val="accent1">
                    <a:lumMod val="60000"/>
                    <a:lumOff val="40000"/>
                  </a:schemeClr>
                </a:solidFill>
                <a:latin typeface="Algerian" panose="04020705040A02060702" pitchFamily="82" charset="0"/>
              </a:rPr>
              <a:t>THANK YOU</a:t>
            </a:r>
          </a:p>
        </p:txBody>
      </p:sp>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01D17D"/>
      </a:accent1>
      <a:accent2>
        <a:srgbClr val="84C72A"/>
      </a:accent2>
      <a:accent3>
        <a:srgbClr val="E1D126"/>
      </a:accent3>
      <a:accent4>
        <a:srgbClr val="E29932"/>
      </a:accent4>
      <a:accent5>
        <a:srgbClr val="E56526"/>
      </a:accent5>
      <a:accent6>
        <a:srgbClr val="D63731"/>
      </a:accent6>
      <a:hlink>
        <a:srgbClr val="35FA7F"/>
      </a:hlink>
      <a:folHlink>
        <a:srgbClr val="BAFC85"/>
      </a:folHlink>
    </a:clrScheme>
    <a:fontScheme name="Vapor Trail">
      <a:majorFont>
        <a:latin typeface="Century 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2</TotalTime>
  <Words>2088</Words>
  <Application>Microsoft Office PowerPoint</Application>
  <PresentationFormat>Widescreen</PresentationFormat>
  <Paragraphs>312</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Adobe Heiti Std R</vt:lpstr>
      <vt:lpstr>Adobe Myungjo Std M</vt:lpstr>
      <vt:lpstr>Adobe Song Std L</vt:lpstr>
      <vt:lpstr>Algerian</vt:lpstr>
      <vt:lpstr>Arial</vt:lpstr>
      <vt:lpstr>Arial Black</vt:lpstr>
      <vt:lpstr>Century Gothic</vt:lpstr>
      <vt:lpstr>Forte</vt:lpstr>
      <vt:lpstr>Vapor Trail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Dipesh Maiti</dc:creator>
  <cp:lastModifiedBy>Ghosh, Pratyay</cp:lastModifiedBy>
  <cp:revision>3</cp:revision>
  <dcterms:created xsi:type="dcterms:W3CDTF">2023-05-19T16:59:00Z</dcterms:created>
  <dcterms:modified xsi:type="dcterms:W3CDTF">2026-06-28T05:56:41Z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E54F58F7F4D543D5ADB7D1BF736D39DB</vt:lpwstr>
  </property>
  <property fmtid="{D5CDD505-2E9C-101B-9397-08002B2CF9AE}" pid="3" name="KSOProductBuildVer">
    <vt:lpwstr>1033-11.2.0.11537</vt:lpwstr>
  </property>
</Properties>
</file>