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0" r:id="rId4"/>
    <p:sldId id="277" r:id="rId5"/>
    <p:sldId id="259" r:id="rId6"/>
    <p:sldId id="286" r:id="rId7"/>
    <p:sldId id="278" r:id="rId8"/>
    <p:sldId id="271" r:id="rId9"/>
    <p:sldId id="272" r:id="rId10"/>
    <p:sldId id="279" r:id="rId11"/>
    <p:sldId id="280" r:id="rId12"/>
    <p:sldId id="281" r:id="rId13"/>
    <p:sldId id="282" r:id="rId14"/>
    <p:sldId id="283" r:id="rId15"/>
    <p:sldId id="284" r:id="rId16"/>
    <p:sldId id="28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p:cViewPr varScale="1">
        <p:scale>
          <a:sx n="78" d="100"/>
          <a:sy n="78" d="100"/>
        </p:scale>
        <p:origin x="42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t>1/15/2022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t>1/15/2022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1/15/2022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1/15/2022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1/15/2022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8.pn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1356995" y="989965"/>
            <a:ext cx="8950325" cy="1753235"/>
          </a:xfrm>
          <a:prstGeom prst="rect">
            <a:avLst/>
          </a:prstGeom>
          <a:noFill/>
        </p:spPr>
        <p:txBody>
          <a:bodyPr wrap="square" rtlCol="0" anchor="t">
            <a:spAutoFit/>
          </a:bodyPr>
          <a:lstStyle/>
          <a:p>
            <a:pPr algn="ctr"/>
            <a:r>
              <a:rPr lang="en-US" sz="5400">
                <a:ln w="6600">
                  <a:solidFill>
                    <a:schemeClr val="accent2"/>
                  </a:solidFill>
                  <a:prstDash val="solid"/>
                </a:ln>
                <a:solidFill>
                  <a:srgbClr val="FFFFFF"/>
                </a:solidFill>
                <a:effectLst>
                  <a:outerShdw dist="38100" dir="2700000" algn="tl" rotWithShape="0">
                    <a:schemeClr val="accent2"/>
                  </a:outerShdw>
                </a:effectLst>
              </a:rPr>
              <a:t>Optimisation of Parameters in </a:t>
            </a:r>
            <a:r>
              <a:rPr lang="en-IN" altLang="en-US" sz="5400">
                <a:ln w="6600">
                  <a:solidFill>
                    <a:schemeClr val="accent2"/>
                  </a:solidFill>
                  <a:prstDash val="solid"/>
                </a:ln>
                <a:solidFill>
                  <a:srgbClr val="FFFFFF"/>
                </a:solidFill>
                <a:effectLst>
                  <a:outerShdw dist="38100" dir="2700000" algn="tl" rotWithShape="0">
                    <a:schemeClr val="accent2"/>
                  </a:outerShdw>
                </a:effectLst>
              </a:rPr>
              <a:t>                                F</a:t>
            </a:r>
            <a:r>
              <a:rPr lang="en-US" sz="5400">
                <a:ln w="6600">
                  <a:solidFill>
                    <a:schemeClr val="accent2"/>
                  </a:solidFill>
                  <a:prstDash val="solid"/>
                </a:ln>
                <a:solidFill>
                  <a:srgbClr val="FFFFFF"/>
                </a:solidFill>
                <a:effectLst>
                  <a:outerShdw dist="38100" dir="2700000" algn="tl" rotWithShape="0">
                    <a:schemeClr val="accent2"/>
                  </a:outerShdw>
                </a:effectLst>
              </a:rPr>
              <a:t>DM </a:t>
            </a:r>
            <a:r>
              <a:rPr lang="en-IN" altLang="en-US" sz="5400">
                <a:ln w="6600">
                  <a:solidFill>
                    <a:schemeClr val="accent2"/>
                  </a:solidFill>
                  <a:prstDash val="solid"/>
                </a:ln>
                <a:solidFill>
                  <a:srgbClr val="FFFFFF"/>
                </a:solidFill>
                <a:effectLst>
                  <a:outerShdw dist="38100" dir="2700000" algn="tl" rotWithShape="0">
                    <a:schemeClr val="accent2"/>
                  </a:outerShdw>
                </a:effectLst>
              </a:rPr>
              <a:t>  </a:t>
            </a:r>
            <a:r>
              <a:rPr lang="en-US" sz="5400">
                <a:ln w="6600">
                  <a:solidFill>
                    <a:schemeClr val="accent2"/>
                  </a:solidFill>
                  <a:prstDash val="solid"/>
                </a:ln>
                <a:solidFill>
                  <a:srgbClr val="FFFFFF"/>
                </a:solidFill>
                <a:effectLst>
                  <a:outerShdw dist="38100" dir="2700000" algn="tl" rotWithShape="0">
                    <a:schemeClr val="accent2"/>
                  </a:outerShdw>
                </a:effectLst>
              </a:rPr>
              <a:t>Process</a:t>
            </a:r>
          </a:p>
        </p:txBody>
      </p:sp>
      <p:sp>
        <p:nvSpPr>
          <p:cNvPr id="6" name="Text Box 5"/>
          <p:cNvSpPr txBox="1"/>
          <p:nvPr/>
        </p:nvSpPr>
        <p:spPr>
          <a:xfrm>
            <a:off x="1976120" y="4303395"/>
            <a:ext cx="7712075" cy="645160"/>
          </a:xfrm>
          <a:prstGeom prst="rect">
            <a:avLst/>
          </a:prstGeom>
          <a:noFill/>
        </p:spPr>
        <p:txBody>
          <a:bodyPr wrap="square" rtlCol="0" anchor="t">
            <a:spAutoFit/>
          </a:bodyPr>
          <a:lstStyle/>
          <a:p>
            <a:r>
              <a:rPr lang="en-US" sz="360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By Akash, Rit, Pratyay, Souhardik, Dipesh</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Text Box 12"/>
          <p:cNvSpPr txBox="1"/>
          <p:nvPr/>
        </p:nvSpPr>
        <p:spPr>
          <a:xfrm>
            <a:off x="3350895" y="1114107"/>
            <a:ext cx="5080000" cy="5438775"/>
          </a:xfrm>
          <a:prstGeom prst="rect">
            <a:avLst/>
          </a:prstGeom>
          <a:noFill/>
          <a:ln w="9525">
            <a:noFill/>
          </a:ln>
        </p:spPr>
        <p:txBody>
          <a:bodyPr wrap="square">
            <a:spAutoFit/>
          </a:bodyPr>
          <a:lstStyle/>
          <a:p>
            <a:pPr indent="0"/>
            <a:r>
              <a:rPr lang="en-US" sz="550" b="1">
                <a:latin typeface="Times New Roman" panose="02020603050405020304" charset="0"/>
              </a:rPr>
              <a:t> </a:t>
            </a:r>
            <a:endParaRPr lang="en-US" sz="1000" b="1" u="sng">
              <a:latin typeface="Times New Roman" panose="02020603050405020304" charset="0"/>
            </a:endParaRPr>
          </a:p>
          <a:p>
            <a:pPr indent="0"/>
            <a:r>
              <a:rPr lang="en-US" sz="1200" b="1" u="sng">
                <a:latin typeface="Times New Roman" panose="02020603050405020304" charset="0"/>
              </a:rPr>
              <a:t>CHAPTER 1</a:t>
            </a:r>
            <a:endParaRPr lang="en-US" sz="1600" b="1">
              <a:latin typeface="Times New Roman" panose="02020603050405020304" charset="0"/>
            </a:endParaRPr>
          </a:p>
          <a:p>
            <a:pPr indent="0"/>
            <a:r>
              <a:rPr lang="en-US" sz="1600" b="1">
                <a:latin typeface="Times New Roman" panose="02020603050405020304" charset="0"/>
              </a:rPr>
              <a:t> </a:t>
            </a:r>
          </a:p>
          <a:p>
            <a:pPr indent="0"/>
            <a:r>
              <a:rPr lang="en-US" sz="1600" b="0">
                <a:latin typeface="Times New Roman" panose="02020603050405020304" charset="0"/>
              </a:rPr>
              <a:t> INTRODUCTION</a:t>
            </a:r>
          </a:p>
          <a:p>
            <a:pPr indent="0"/>
            <a:r>
              <a:rPr lang="en-US" sz="1600" b="0">
                <a:latin typeface="Times New Roman" panose="02020603050405020304" charset="0"/>
              </a:rPr>
              <a:t> FUSED DEPOSITION MODELING</a:t>
            </a:r>
          </a:p>
          <a:p>
            <a:pPr indent="0"/>
            <a:r>
              <a:rPr lang="en-US" sz="1600" b="0">
                <a:latin typeface="Times New Roman" panose="02020603050405020304" charset="0"/>
              </a:rPr>
              <a:t> </a:t>
            </a:r>
            <a:endParaRPr lang="en-US" sz="1600" b="1" u="sng">
              <a:latin typeface="Times New Roman" panose="02020603050405020304" charset="0"/>
            </a:endParaRPr>
          </a:p>
          <a:p>
            <a:pPr indent="0"/>
            <a:r>
              <a:rPr lang="en-US" sz="1600" b="1" u="sng">
                <a:latin typeface="Times New Roman" panose="02020603050405020304" charset="0"/>
              </a:rPr>
              <a:t>CHAPTER </a:t>
            </a:r>
            <a:r>
              <a:rPr lang="en-IN" altLang="en-US" sz="1600" b="1" u="sng">
                <a:latin typeface="Times New Roman" panose="02020603050405020304" charset="0"/>
              </a:rPr>
              <a:t>2</a:t>
            </a:r>
            <a:endParaRPr lang="en-US" sz="1600" b="1">
              <a:latin typeface="Times New Roman" panose="02020603050405020304" charset="0"/>
            </a:endParaRPr>
          </a:p>
          <a:p>
            <a:pPr indent="0"/>
            <a:r>
              <a:rPr lang="en-US" sz="1600" b="1">
                <a:latin typeface="Times New Roman" panose="02020603050405020304" charset="0"/>
              </a:rPr>
              <a:t> </a:t>
            </a:r>
            <a:endParaRPr lang="en-US" sz="1600" b="0">
              <a:latin typeface="Times New Roman" panose="02020603050405020304" charset="0"/>
            </a:endParaRPr>
          </a:p>
          <a:p>
            <a:pPr indent="0"/>
            <a:r>
              <a:rPr lang="en-US" sz="1600" b="0">
                <a:latin typeface="Times New Roman" panose="02020603050405020304" charset="0"/>
              </a:rPr>
              <a:t>OBJECTIVE OF WORK</a:t>
            </a:r>
          </a:p>
          <a:p>
            <a:pPr indent="0"/>
            <a:r>
              <a:rPr lang="en-IN" altLang="en-US" sz="1600" b="0">
                <a:latin typeface="Times New Roman" panose="02020603050405020304" charset="0"/>
              </a:rPr>
              <a:t>CHOICE OF MATERIAL</a:t>
            </a:r>
            <a:endParaRPr lang="en-US" sz="1600" b="0">
              <a:latin typeface="Times New Roman" panose="02020603050405020304" charset="0"/>
            </a:endParaRPr>
          </a:p>
          <a:p>
            <a:pPr indent="0"/>
            <a:r>
              <a:rPr lang="en-US" sz="1600">
                <a:latin typeface="Times New Roman" panose="02020603050405020304" charset="0"/>
                <a:sym typeface="+mn-ea"/>
              </a:rPr>
              <a:t>EXPERIMENTAL DETAILS</a:t>
            </a:r>
          </a:p>
          <a:p>
            <a:pPr indent="0"/>
            <a:endParaRPr lang="en-US" sz="1600" b="0">
              <a:latin typeface="Times New Roman" panose="02020603050405020304" charset="0"/>
            </a:endParaRPr>
          </a:p>
          <a:p>
            <a:pPr indent="0"/>
            <a:r>
              <a:rPr lang="en-US" sz="1600" b="0">
                <a:latin typeface="Times New Roman" panose="02020603050405020304" charset="0"/>
              </a:rPr>
              <a:t> </a:t>
            </a:r>
            <a:endParaRPr lang="en-US" sz="1600" b="1" u="sng">
              <a:latin typeface="Times New Roman" panose="02020603050405020304" charset="0"/>
            </a:endParaRPr>
          </a:p>
          <a:p>
            <a:pPr indent="0"/>
            <a:r>
              <a:rPr lang="en-US" sz="1600" b="1" u="sng">
                <a:latin typeface="Times New Roman" panose="02020603050405020304" charset="0"/>
              </a:rPr>
              <a:t>CHAPTER </a:t>
            </a:r>
            <a:r>
              <a:rPr lang="en-IN" altLang="en-US" sz="1600" b="1" u="sng">
                <a:latin typeface="Times New Roman" panose="02020603050405020304" charset="0"/>
              </a:rPr>
              <a:t>3</a:t>
            </a:r>
            <a:endParaRPr lang="en-US" sz="1600" b="1">
              <a:latin typeface="Times New Roman" panose="02020603050405020304" charset="0"/>
            </a:endParaRPr>
          </a:p>
          <a:p>
            <a:pPr indent="0"/>
            <a:r>
              <a:rPr lang="en-US" sz="1600" b="1">
                <a:latin typeface="Times New Roman" panose="02020603050405020304" charset="0"/>
              </a:rPr>
              <a:t> </a:t>
            </a:r>
          </a:p>
          <a:p>
            <a:pPr indent="0"/>
            <a:r>
              <a:rPr lang="en-IN" altLang="en-US" sz="1600" b="0">
                <a:latin typeface="Times New Roman" panose="02020603050405020304" charset="0"/>
              </a:rPr>
              <a:t>TAGUCHI METHOD FOR OPTIMIZATION</a:t>
            </a:r>
          </a:p>
          <a:p>
            <a:pPr indent="0"/>
            <a:r>
              <a:rPr lang="en-IN" altLang="en-US" sz="1600">
                <a:latin typeface="Times New Roman" panose="02020603050405020304" charset="0"/>
                <a:sym typeface="+mn-ea"/>
              </a:rPr>
              <a:t>RESULT AND DISCUSSION</a:t>
            </a:r>
            <a:endParaRPr lang="en-US" sz="1600" b="0">
              <a:latin typeface="Times New Roman" panose="02020603050405020304" charset="0"/>
            </a:endParaRPr>
          </a:p>
          <a:p>
            <a:pPr indent="0"/>
            <a:r>
              <a:rPr lang="en-US" sz="1600" b="0">
                <a:latin typeface="Times New Roman" panose="02020603050405020304" charset="0"/>
              </a:rPr>
              <a:t> </a:t>
            </a:r>
          </a:p>
          <a:p>
            <a:pPr indent="0"/>
            <a:r>
              <a:rPr lang="en-US" sz="1600" b="0">
                <a:latin typeface="Times New Roman" panose="02020603050405020304" charset="0"/>
              </a:rPr>
              <a:t> </a:t>
            </a:r>
            <a:endParaRPr lang="en-US" sz="1600" b="1" u="sng">
              <a:latin typeface="Times New Roman" panose="02020603050405020304" charset="0"/>
            </a:endParaRPr>
          </a:p>
          <a:p>
            <a:pPr indent="0"/>
            <a:r>
              <a:rPr lang="en-US" sz="1600" b="1" u="sng">
                <a:latin typeface="Times New Roman" panose="02020603050405020304" charset="0"/>
              </a:rPr>
              <a:t>CHAPTER </a:t>
            </a:r>
            <a:r>
              <a:rPr lang="en-IN" altLang="en-US" sz="1600" b="1" u="sng">
                <a:latin typeface="Times New Roman" panose="02020603050405020304" charset="0"/>
              </a:rPr>
              <a:t>4</a:t>
            </a:r>
            <a:endParaRPr lang="en-US" sz="1600" b="1">
              <a:latin typeface="Times New Roman" panose="02020603050405020304" charset="0"/>
            </a:endParaRPr>
          </a:p>
          <a:p>
            <a:pPr indent="0"/>
            <a:r>
              <a:rPr lang="en-US" sz="1600" b="1">
                <a:latin typeface="Times New Roman" panose="02020603050405020304" charset="0"/>
              </a:rPr>
              <a:t> </a:t>
            </a:r>
            <a:endParaRPr lang="en-US" sz="1600" b="0">
              <a:latin typeface="Times New Roman" panose="02020603050405020304" charset="0"/>
            </a:endParaRPr>
          </a:p>
          <a:p>
            <a:pPr indent="0"/>
            <a:r>
              <a:rPr lang="en-US" sz="1600" b="0">
                <a:latin typeface="Times New Roman" panose="02020603050405020304" charset="0"/>
              </a:rPr>
              <a:t>CONCLUSION</a:t>
            </a:r>
          </a:p>
          <a:p>
            <a:pPr indent="0"/>
            <a:r>
              <a:rPr lang="en-US" sz="1000" b="0">
                <a:latin typeface="Times New Roman" panose="02020603050405020304" charset="0"/>
              </a:rPr>
              <a:t> </a:t>
            </a:r>
            <a:endParaRPr lang="en-US"/>
          </a:p>
        </p:txBody>
      </p:sp>
      <p:sp>
        <p:nvSpPr>
          <p:cNvPr id="100" name="Text Box 99"/>
          <p:cNvSpPr txBox="1"/>
          <p:nvPr/>
        </p:nvSpPr>
        <p:spPr>
          <a:xfrm>
            <a:off x="3975735" y="352108"/>
            <a:ext cx="5080000" cy="499110"/>
          </a:xfrm>
          <a:prstGeom prst="rect">
            <a:avLst/>
          </a:prstGeom>
          <a:noFill/>
          <a:ln w="9525">
            <a:noFill/>
          </a:ln>
        </p:spPr>
        <p:txBody>
          <a:bodyPr wrap="square">
            <a:spAutoFit/>
          </a:bodyPr>
          <a:lstStyle/>
          <a:p>
            <a:pPr indent="0" algn="ctr"/>
            <a:r>
              <a:rPr lang="en-US" b="1">
                <a:latin typeface="Times New Roman" panose="02020603050405020304" charset="0"/>
              </a:rPr>
              <a:t>CONTENTS</a:t>
            </a:r>
            <a:r>
              <a:rPr lang="en-US" sz="2650" b="1">
                <a:latin typeface="Times New Roman" panose="02020603050405020304" charset="0"/>
              </a:rPr>
              <a:t> </a:t>
            </a:r>
            <a:endParaRPr lang="en-US"/>
          </a:p>
        </p:txBody>
      </p:sp>
      <p:pic>
        <p:nvPicPr>
          <p:cNvPr id="12" name="Picture 11"/>
          <p:cNvPicPr/>
          <p:nvPr/>
        </p:nvPicPr>
        <p:blipFill>
          <a:blip r:embed="rId2"/>
          <a:stretch>
            <a:fillRect/>
          </a:stretch>
        </p:blipFill>
        <p:spPr>
          <a:xfrm>
            <a:off x="4135755" y="767398"/>
            <a:ext cx="4411980" cy="8382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285874" y="1365490"/>
            <a:ext cx="9934061" cy="1323439"/>
          </a:xfrm>
          <a:prstGeom prst="rect">
            <a:avLst/>
          </a:prstGeom>
          <a:noFill/>
        </p:spPr>
        <p:txBody>
          <a:bodyPr wrap="square" rtlCol="0" anchor="t">
            <a:spAutoFit/>
          </a:bodyPr>
          <a:lstStyle/>
          <a:p>
            <a:pPr indent="0"/>
            <a:r>
              <a:rPr lang="en-US" sz="2000" dirty="0">
                <a:latin typeface="Bahnschrift SemiBold" panose="020B0502040204020203" charset="0"/>
                <a:cs typeface="Bahnschrift SemiBold" panose="020B0502040204020203" charset="0"/>
                <a:sym typeface="+mn-ea"/>
              </a:rPr>
              <a:t>Additive manufacturing (AM), also known as 3D printing, is a transformative approach to industrial production that enables the creation of lighter, stronger parts and systems.</a:t>
            </a:r>
            <a:r>
              <a:rPr lang="en-IN" altLang="en-US" sz="2000" dirty="0">
                <a:latin typeface="Bahnschrift SemiBold" panose="020B0502040204020203" charset="0"/>
                <a:cs typeface="Bahnschrift SemiBold" panose="020B0502040204020203" charset="0"/>
                <a:sym typeface="+mn-ea"/>
              </a:rPr>
              <a:t> </a:t>
            </a:r>
            <a:endParaRPr lang="en-IN" altLang="en-US" sz="2000" b="0" dirty="0">
              <a:latin typeface="Bahnschrift SemiBold" panose="020B0502040204020203" charset="0"/>
              <a:cs typeface="Bahnschrift SemiBold" panose="020B0502040204020203" charset="0"/>
            </a:endParaRPr>
          </a:p>
          <a:p>
            <a:pPr indent="0"/>
            <a:endParaRPr lang="en-US" sz="2000" dirty="0">
              <a:latin typeface="Bahnschrift SemiBold" panose="020B0502040204020203" charset="0"/>
              <a:cs typeface="Bahnschrift SemiBold" panose="020B0502040204020203" charset="0"/>
            </a:endParaRPr>
          </a:p>
        </p:txBody>
      </p:sp>
      <p:sp>
        <p:nvSpPr>
          <p:cNvPr id="3" name="Text Box 2"/>
          <p:cNvSpPr txBox="1"/>
          <p:nvPr/>
        </p:nvSpPr>
        <p:spPr>
          <a:xfrm>
            <a:off x="1472882" y="534927"/>
            <a:ext cx="4964430" cy="645160"/>
          </a:xfrm>
          <a:prstGeom prst="rect">
            <a:avLst/>
          </a:prstGeom>
          <a:noFill/>
        </p:spPr>
        <p:txBody>
          <a:bodyPr wrap="square" rtlCol="0">
            <a:spAutoFit/>
          </a:bodyPr>
          <a:lstStyle/>
          <a:p>
            <a:r>
              <a:rPr lang="en-US" sz="3600" dirty="0">
                <a:ln w="22225">
                  <a:solidFill>
                    <a:schemeClr val="accent2"/>
                  </a:solidFill>
                  <a:prstDash val="solid"/>
                </a:ln>
                <a:solidFill>
                  <a:schemeClr val="accent2">
                    <a:lumMod val="40000"/>
                    <a:lumOff val="60000"/>
                  </a:schemeClr>
                </a:solidFill>
                <a:effectLst/>
              </a:rPr>
              <a:t>INTRODUCTION</a:t>
            </a:r>
            <a:r>
              <a:rPr lang="en-IN" altLang="en-US" sz="3600" dirty="0">
                <a:ln w="22225">
                  <a:solidFill>
                    <a:schemeClr val="accent2"/>
                  </a:solidFill>
                  <a:prstDash val="solid"/>
                </a:ln>
                <a:solidFill>
                  <a:schemeClr val="accent2">
                    <a:lumMod val="40000"/>
                    <a:lumOff val="60000"/>
                  </a:schemeClr>
                </a:solidFill>
                <a:effectLst/>
              </a:rPr>
              <a:t> :</a:t>
            </a:r>
          </a:p>
        </p:txBody>
      </p:sp>
      <p:pic>
        <p:nvPicPr>
          <p:cNvPr id="5" name="Picture 4"/>
          <p:cNvPicPr>
            <a:picLocks noChangeAspect="1"/>
          </p:cNvPicPr>
          <p:nvPr/>
        </p:nvPicPr>
        <p:blipFill>
          <a:blip r:embed="rId2"/>
          <a:stretch>
            <a:fillRect/>
          </a:stretch>
        </p:blipFill>
        <p:spPr>
          <a:xfrm>
            <a:off x="278792" y="3768931"/>
            <a:ext cx="3341677" cy="1578442"/>
          </a:xfrm>
          <a:prstGeom prst="rect">
            <a:avLst/>
          </a:prstGeom>
        </p:spPr>
      </p:pic>
      <p:sp>
        <p:nvSpPr>
          <p:cNvPr id="6" name="Right Arrow 5"/>
          <p:cNvSpPr/>
          <p:nvPr/>
        </p:nvSpPr>
        <p:spPr>
          <a:xfrm>
            <a:off x="4064254" y="4308685"/>
            <a:ext cx="653272" cy="4989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3"/>
          <a:stretch>
            <a:fillRect/>
          </a:stretch>
        </p:blipFill>
        <p:spPr>
          <a:xfrm>
            <a:off x="5266054" y="3830971"/>
            <a:ext cx="3773568" cy="1644282"/>
          </a:xfrm>
          <a:prstGeom prst="rect">
            <a:avLst/>
          </a:prstGeom>
        </p:spPr>
      </p:pic>
      <p:sp>
        <p:nvSpPr>
          <p:cNvPr id="8" name="TextBox 7"/>
          <p:cNvSpPr txBox="1"/>
          <p:nvPr/>
        </p:nvSpPr>
        <p:spPr>
          <a:xfrm>
            <a:off x="1193508" y="4920318"/>
            <a:ext cx="184731" cy="369332"/>
          </a:xfrm>
          <a:prstGeom prst="rect">
            <a:avLst/>
          </a:prstGeom>
          <a:noFill/>
        </p:spPr>
        <p:txBody>
          <a:bodyPr wrap="none" rtlCol="0">
            <a:spAutoFit/>
          </a:bodyPr>
          <a:lstStyle/>
          <a:p>
            <a:endParaRPr lang="en-US" dirty="0"/>
          </a:p>
        </p:txBody>
      </p:sp>
      <p:sp>
        <p:nvSpPr>
          <p:cNvPr id="11" name="Right Arrow 10"/>
          <p:cNvSpPr/>
          <p:nvPr/>
        </p:nvSpPr>
        <p:spPr>
          <a:xfrm>
            <a:off x="9612803" y="4813319"/>
            <a:ext cx="653272" cy="49893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p:nvPicPr>
        <p:blipFill>
          <a:blip r:embed="rId4"/>
          <a:stretch>
            <a:fillRect/>
          </a:stretch>
        </p:blipFill>
        <p:spPr>
          <a:xfrm>
            <a:off x="10709860" y="2623967"/>
            <a:ext cx="1020149" cy="3200717"/>
          </a:xfrm>
          <a:prstGeom prst="rect">
            <a:avLst/>
          </a:prstGeom>
        </p:spPr>
      </p:pic>
      <p:sp>
        <p:nvSpPr>
          <p:cNvPr id="12" name="TextBox 11"/>
          <p:cNvSpPr txBox="1"/>
          <p:nvPr/>
        </p:nvSpPr>
        <p:spPr>
          <a:xfrm>
            <a:off x="0" y="3044264"/>
            <a:ext cx="12192000" cy="477054"/>
          </a:xfrm>
          <a:prstGeom prst="rect">
            <a:avLst/>
          </a:prstGeom>
          <a:noFill/>
        </p:spPr>
        <p:txBody>
          <a:bodyPr wrap="square" rtlCol="0">
            <a:spAutoFit/>
          </a:bodyPr>
          <a:lstStyle/>
          <a:p>
            <a:pPr algn="ctr"/>
            <a:r>
              <a:rPr lang="en-US" sz="2500" b="1" dirty="0" smtClean="0"/>
              <a:t>The 3d Printing Process</a:t>
            </a:r>
            <a:endParaRPr lang="en-US" sz="2500" b="1" dirty="0"/>
          </a:p>
        </p:txBody>
      </p:sp>
      <p:sp>
        <p:nvSpPr>
          <p:cNvPr id="13" name="TextBox 12"/>
          <p:cNvSpPr txBox="1"/>
          <p:nvPr/>
        </p:nvSpPr>
        <p:spPr>
          <a:xfrm>
            <a:off x="804010" y="5884139"/>
            <a:ext cx="1374479" cy="646331"/>
          </a:xfrm>
          <a:prstGeom prst="rect">
            <a:avLst/>
          </a:prstGeom>
          <a:noFill/>
        </p:spPr>
        <p:txBody>
          <a:bodyPr wrap="none" rtlCol="0">
            <a:spAutoFit/>
          </a:bodyPr>
          <a:lstStyle/>
          <a:p>
            <a:pPr algn="ctr"/>
            <a:r>
              <a:rPr lang="en-US" b="1" dirty="0" smtClean="0"/>
              <a:t>User</a:t>
            </a:r>
            <a:r>
              <a:rPr lang="en-US" dirty="0" smtClean="0"/>
              <a:t> </a:t>
            </a:r>
            <a:r>
              <a:rPr lang="en-US" u="sng" dirty="0" smtClean="0"/>
              <a:t>Creates</a:t>
            </a:r>
          </a:p>
          <a:p>
            <a:pPr algn="ctr"/>
            <a:r>
              <a:rPr lang="en-US" b="1" dirty="0" smtClean="0"/>
              <a:t>CAD</a:t>
            </a:r>
            <a:r>
              <a:rPr lang="en-US" dirty="0" smtClean="0"/>
              <a:t> File</a:t>
            </a:r>
            <a:endParaRPr lang="en-US" dirty="0"/>
          </a:p>
        </p:txBody>
      </p:sp>
      <p:sp>
        <p:nvSpPr>
          <p:cNvPr id="15" name="TextBox 14"/>
          <p:cNvSpPr txBox="1"/>
          <p:nvPr/>
        </p:nvSpPr>
        <p:spPr>
          <a:xfrm>
            <a:off x="5965590" y="5884139"/>
            <a:ext cx="2374497" cy="646331"/>
          </a:xfrm>
          <a:prstGeom prst="rect">
            <a:avLst/>
          </a:prstGeom>
          <a:noFill/>
        </p:spPr>
        <p:txBody>
          <a:bodyPr wrap="none" rtlCol="0">
            <a:spAutoFit/>
          </a:bodyPr>
          <a:lstStyle/>
          <a:p>
            <a:pPr algn="ctr"/>
            <a:r>
              <a:rPr lang="en-US" b="1" dirty="0" smtClean="0"/>
              <a:t>Software </a:t>
            </a:r>
            <a:r>
              <a:rPr lang="en-US" u="sng" dirty="0" smtClean="0"/>
              <a:t>Converts</a:t>
            </a:r>
            <a:r>
              <a:rPr lang="en-US" b="1" dirty="0" smtClean="0"/>
              <a:t> </a:t>
            </a:r>
            <a:r>
              <a:rPr lang="en-US" dirty="0" smtClean="0"/>
              <a:t>it to</a:t>
            </a:r>
          </a:p>
          <a:p>
            <a:pPr algn="ctr"/>
            <a:r>
              <a:rPr lang="en-US" b="1" dirty="0" smtClean="0"/>
              <a:t>.STL File</a:t>
            </a:r>
            <a:endParaRPr lang="en-US" b="1" dirty="0"/>
          </a:p>
        </p:txBody>
      </p:sp>
      <p:sp>
        <p:nvSpPr>
          <p:cNvPr id="16" name="TextBox 15"/>
          <p:cNvSpPr txBox="1"/>
          <p:nvPr/>
        </p:nvSpPr>
        <p:spPr>
          <a:xfrm>
            <a:off x="10410541" y="5884139"/>
            <a:ext cx="1618786" cy="646331"/>
          </a:xfrm>
          <a:prstGeom prst="rect">
            <a:avLst/>
          </a:prstGeom>
          <a:noFill/>
        </p:spPr>
        <p:txBody>
          <a:bodyPr wrap="square" rtlCol="0">
            <a:spAutoFit/>
          </a:bodyPr>
          <a:lstStyle/>
          <a:p>
            <a:pPr algn="ctr"/>
            <a:r>
              <a:rPr lang="en-US" b="1" dirty="0" smtClean="0"/>
              <a:t>Printer</a:t>
            </a:r>
            <a:r>
              <a:rPr lang="en-US" dirty="0" smtClean="0"/>
              <a:t> </a:t>
            </a:r>
            <a:r>
              <a:rPr lang="en-US" u="sng" dirty="0" smtClean="0"/>
              <a:t>Prints</a:t>
            </a:r>
          </a:p>
          <a:p>
            <a:pPr algn="ctr"/>
            <a:r>
              <a:rPr lang="en-US" b="1" dirty="0" smtClean="0"/>
              <a:t>Fina</a:t>
            </a:r>
            <a:r>
              <a:rPr lang="en-US" dirty="0" smtClean="0"/>
              <a:t>l Product</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n Introduction to 3D Printing—Past, Present, and Future Promise -  ScienceDirec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7995" y="1659585"/>
            <a:ext cx="5442036" cy="351258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85351" y="1013254"/>
            <a:ext cx="11874843" cy="646331"/>
          </a:xfrm>
          <a:prstGeom prst="rect">
            <a:avLst/>
          </a:prstGeom>
          <a:noFill/>
        </p:spPr>
        <p:txBody>
          <a:bodyPr wrap="square" rtlCol="0">
            <a:spAutoFit/>
          </a:bodyPr>
          <a:lstStyle/>
          <a:p>
            <a:r>
              <a:rPr lang="en-US" dirty="0" smtClean="0"/>
              <a:t>Additive Manufacturing is so Called because we </a:t>
            </a:r>
            <a:r>
              <a:rPr lang="en-US" b="1" dirty="0" smtClean="0"/>
              <a:t>add</a:t>
            </a:r>
            <a:r>
              <a:rPr lang="en-US" dirty="0" smtClean="0"/>
              <a:t> material layer by layer whereas in Traditional Machining we </a:t>
            </a:r>
            <a:r>
              <a:rPr lang="en-US" b="1" dirty="0" smtClean="0"/>
              <a:t>remove</a:t>
            </a:r>
            <a:r>
              <a:rPr lang="en-US" dirty="0" smtClean="0"/>
              <a:t> material from a chunk of Metal or Plastic.</a:t>
            </a:r>
            <a:endParaRPr lang="en-US" dirty="0"/>
          </a:p>
        </p:txBody>
      </p:sp>
      <p:sp>
        <p:nvSpPr>
          <p:cNvPr id="4" name="TextBox 3"/>
          <p:cNvSpPr txBox="1"/>
          <p:nvPr/>
        </p:nvSpPr>
        <p:spPr>
          <a:xfrm>
            <a:off x="420129" y="5449171"/>
            <a:ext cx="8707577" cy="369332"/>
          </a:xfrm>
          <a:prstGeom prst="rect">
            <a:avLst/>
          </a:prstGeom>
          <a:noFill/>
        </p:spPr>
        <p:txBody>
          <a:bodyPr wrap="none" rtlCol="0">
            <a:spAutoFit/>
          </a:bodyPr>
          <a:lstStyle/>
          <a:p>
            <a:r>
              <a:rPr lang="en-US" dirty="0" smtClean="0"/>
              <a:t>As the </a:t>
            </a:r>
            <a:r>
              <a:rPr lang="en-US" b="1" dirty="0" smtClean="0"/>
              <a:t>first layer is created first </a:t>
            </a:r>
            <a:r>
              <a:rPr lang="en-US" dirty="0" smtClean="0"/>
              <a:t>and then the next layer, It is also called </a:t>
            </a:r>
            <a:r>
              <a:rPr lang="en-US" b="1" dirty="0" smtClean="0"/>
              <a:t>Bottom-Up Process</a:t>
            </a:r>
            <a:endParaRPr lang="en-US" b="1" dirty="0"/>
          </a:p>
        </p:txBody>
      </p:sp>
    </p:spTree>
    <p:extLst>
      <p:ext uri="{BB962C8B-B14F-4D97-AF65-F5344CB8AC3E}">
        <p14:creationId xmlns:p14="http://schemas.microsoft.com/office/powerpoint/2010/main" val="39698336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 Box 99"/>
          <p:cNvSpPr txBox="1"/>
          <p:nvPr/>
        </p:nvSpPr>
        <p:spPr>
          <a:xfrm>
            <a:off x="654050" y="405562"/>
            <a:ext cx="6997065" cy="583565"/>
          </a:xfrm>
          <a:prstGeom prst="rect">
            <a:avLst/>
          </a:prstGeom>
          <a:noFill/>
          <a:ln w="9525">
            <a:noFill/>
          </a:ln>
        </p:spPr>
        <p:txBody>
          <a:bodyPr wrap="square">
            <a:spAutoFit/>
          </a:bodyPr>
          <a:lstStyle/>
          <a:p>
            <a:pPr indent="0"/>
            <a:r>
              <a:rPr lang="en-US" sz="3200" b="0" dirty="0">
                <a:ln w="22225">
                  <a:solidFill>
                    <a:schemeClr val="accent2"/>
                  </a:solidFill>
                  <a:prstDash val="solid"/>
                </a:ln>
                <a:solidFill>
                  <a:schemeClr val="accent2">
                    <a:lumMod val="40000"/>
                    <a:lumOff val="60000"/>
                  </a:schemeClr>
                </a:solidFill>
                <a:effectLst/>
                <a:latin typeface="Times New Roman" panose="02020603050405020304" charset="0"/>
              </a:rPr>
              <a:t>FUSED DEPOSITION MODELING</a:t>
            </a:r>
          </a:p>
        </p:txBody>
      </p:sp>
      <p:sp>
        <p:nvSpPr>
          <p:cNvPr id="2" name="Text Box 1"/>
          <p:cNvSpPr txBox="1"/>
          <p:nvPr/>
        </p:nvSpPr>
        <p:spPr>
          <a:xfrm>
            <a:off x="654050" y="1330007"/>
            <a:ext cx="5080000" cy="1168400"/>
          </a:xfrm>
          <a:prstGeom prst="rect">
            <a:avLst/>
          </a:prstGeom>
          <a:noFill/>
          <a:ln w="9525">
            <a:noFill/>
          </a:ln>
        </p:spPr>
        <p:txBody>
          <a:bodyPr>
            <a:spAutoFit/>
          </a:bodyPr>
          <a:lstStyle/>
          <a:p>
            <a:pPr indent="0"/>
            <a:r>
              <a:rPr lang="en-US" sz="1400" b="0">
                <a:latin typeface="Tahoma" panose="020B0604030504040204" charset="0"/>
                <a:cs typeface="Tahoma" panose="020B0604030504040204" charset="0"/>
              </a:rPr>
              <a:t>The FDM process was introduced commercially to the trade in 1990s as a concept modeling by Stratasys Inc. It is an additive manufacturing technology that is used for a wide array of functions including prototyping, modeling, and production applications</a:t>
            </a:r>
            <a:endParaRPr lang="en-US" sz="1400">
              <a:latin typeface="Tahoma" panose="020B0604030504040204" charset="0"/>
              <a:cs typeface="Tahoma" panose="020B0604030504040204" charset="0"/>
            </a:endParaRPr>
          </a:p>
        </p:txBody>
      </p:sp>
      <p:pic>
        <p:nvPicPr>
          <p:cNvPr id="3" name="Picture 2" descr="https://ars.els-cdn.com/content/image/1-s2.0-S0307904X16303675-gr1_lr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5850355" y="1180859"/>
            <a:ext cx="5979866" cy="2879485"/>
          </a:xfrm>
          <a:prstGeom prst="rect">
            <a:avLst/>
          </a:prstGeom>
          <a:noFill/>
          <a:ln>
            <a:noFill/>
          </a:ln>
        </p:spPr>
      </p:pic>
      <p:sp>
        <p:nvSpPr>
          <p:cNvPr id="4" name="Text Box 3"/>
          <p:cNvSpPr txBox="1"/>
          <p:nvPr/>
        </p:nvSpPr>
        <p:spPr>
          <a:xfrm>
            <a:off x="7073409" y="4443807"/>
            <a:ext cx="3533758" cy="306705"/>
          </a:xfrm>
          <a:prstGeom prst="rect">
            <a:avLst/>
          </a:prstGeom>
          <a:noFill/>
        </p:spPr>
        <p:txBody>
          <a:bodyPr wrap="square" rtlCol="0">
            <a:spAutoFit/>
          </a:bodyPr>
          <a:lstStyle/>
          <a:p>
            <a:r>
              <a:rPr lang="en-IN" altLang="en-US" sz="1400" u="sng" dirty="0" smtClean="0"/>
              <a:t> </a:t>
            </a:r>
            <a:r>
              <a:rPr lang="en-US" sz="1400" u="sng" dirty="0"/>
              <a:t>Schematic representation of the FDM proces</a:t>
            </a:r>
            <a:r>
              <a:rPr lang="en-US" sz="1400" dirty="0"/>
              <a:t>s</a:t>
            </a:r>
          </a:p>
        </p:txBody>
      </p:sp>
      <p:sp>
        <p:nvSpPr>
          <p:cNvPr id="5" name="Text Box 4"/>
          <p:cNvSpPr txBox="1"/>
          <p:nvPr/>
        </p:nvSpPr>
        <p:spPr>
          <a:xfrm>
            <a:off x="654050" y="3042997"/>
            <a:ext cx="4322445" cy="3415030"/>
          </a:xfrm>
          <a:prstGeom prst="rect">
            <a:avLst/>
          </a:prstGeom>
          <a:noFill/>
        </p:spPr>
        <p:txBody>
          <a:bodyPr wrap="square" rtlCol="0">
            <a:spAutoFit/>
          </a:bodyPr>
          <a:lstStyle/>
          <a:p>
            <a:pPr algn="l"/>
            <a:r>
              <a:rPr lang="en-IN" altLang="en-US" dirty="0"/>
              <a:t>Process:</a:t>
            </a:r>
          </a:p>
          <a:p>
            <a:pPr marL="342900" indent="-342900" algn="l">
              <a:buFont typeface="Arial" panose="020B0604020202020204" pitchFamily="34" charset="0"/>
              <a:buChar char="•"/>
            </a:pPr>
            <a:r>
              <a:rPr lang="en-IN" altLang="en-US" dirty="0"/>
              <a:t>The feedstock filament model material is heated and melted to a semi-liquid state.</a:t>
            </a:r>
          </a:p>
          <a:p>
            <a:pPr marL="342900" indent="-342900" algn="l">
              <a:buFont typeface="Arial" panose="020B0604020202020204" pitchFamily="34" charset="0"/>
              <a:buChar char="•"/>
            </a:pPr>
            <a:endParaRPr lang="en-IN" altLang="en-US" dirty="0"/>
          </a:p>
          <a:p>
            <a:pPr marL="342900" indent="-342900" algn="l">
              <a:buFont typeface="Arial" panose="020B0604020202020204" pitchFamily="34" charset="0"/>
              <a:buChar char="•"/>
            </a:pPr>
            <a:r>
              <a:rPr lang="en-IN" altLang="en-US" dirty="0"/>
              <a:t>The semi-liquid material is then extruded through the tip of the nozzle head. </a:t>
            </a:r>
          </a:p>
          <a:p>
            <a:pPr marL="342900" indent="-342900" algn="l">
              <a:buFont typeface="Arial" panose="020B0604020202020204" pitchFamily="34" charset="0"/>
              <a:buChar char="•"/>
            </a:pPr>
            <a:endParaRPr lang="en-IN" altLang="en-US" dirty="0"/>
          </a:p>
          <a:p>
            <a:pPr marL="342900" indent="-342900" algn="l">
              <a:buFont typeface="Arial" panose="020B0604020202020204" pitchFamily="34" charset="0"/>
              <a:buChar char="•"/>
            </a:pPr>
            <a:r>
              <a:rPr lang="en-IN" altLang="en-US" dirty="0"/>
              <a:t>The nozzle head moves vertically and horizontally to draw the 3D object directly from a digital data in a layer by layer style.          </a:t>
            </a:r>
          </a:p>
        </p:txBody>
      </p:sp>
      <p:sp>
        <p:nvSpPr>
          <p:cNvPr id="6" name="Text Box 5"/>
          <p:cNvSpPr txBox="1"/>
          <p:nvPr/>
        </p:nvSpPr>
        <p:spPr>
          <a:xfrm>
            <a:off x="5734050" y="5133975"/>
            <a:ext cx="5415915" cy="1476375"/>
          </a:xfrm>
          <a:prstGeom prst="rect">
            <a:avLst/>
          </a:prstGeom>
          <a:noFill/>
        </p:spPr>
        <p:txBody>
          <a:bodyPr wrap="square" rtlCol="0">
            <a:spAutoFit/>
          </a:bodyPr>
          <a:lstStyle/>
          <a:p>
            <a:pPr algn="l"/>
            <a:r>
              <a:rPr lang="en-IN" altLang="en-US" dirty="0"/>
              <a:t>Supported materials include thermoplastics such as: </a:t>
            </a:r>
          </a:p>
          <a:p>
            <a:pPr marL="285750" indent="-285750" algn="l">
              <a:buFont typeface="Arial" panose="020B0604020202020204" pitchFamily="34" charset="0"/>
              <a:buChar char="•"/>
            </a:pPr>
            <a:r>
              <a:rPr lang="en-IN" altLang="en-US" dirty="0"/>
              <a:t>ABS,</a:t>
            </a:r>
          </a:p>
          <a:p>
            <a:pPr marL="285750" indent="-285750" algn="l">
              <a:buFont typeface="Arial" panose="020B0604020202020204" pitchFamily="34" charset="0"/>
              <a:buChar char="•"/>
            </a:pPr>
            <a:r>
              <a:rPr lang="en-IN" altLang="en-US" dirty="0"/>
              <a:t>Nylon </a:t>
            </a:r>
            <a:r>
              <a:rPr lang="en-IN" altLang="en-US" dirty="0"/>
              <a:t>6</a:t>
            </a:r>
            <a:endParaRPr lang="en-IN" altLang="en-US" dirty="0"/>
          </a:p>
          <a:p>
            <a:pPr marL="285750" indent="-285750" algn="l">
              <a:buFont typeface="Arial" panose="020B0604020202020204" pitchFamily="34" charset="0"/>
              <a:buChar char="•"/>
            </a:pPr>
            <a:r>
              <a:rPr lang="en-IN" altLang="en-US" dirty="0"/>
              <a:t>Polycarbonate (PC)</a:t>
            </a:r>
          </a:p>
          <a:p>
            <a:pPr marL="285750" indent="-285750" algn="l">
              <a:buFont typeface="Arial" panose="020B0604020202020204" pitchFamily="34" charset="0"/>
              <a:buChar char="•"/>
            </a:pPr>
            <a:r>
              <a:rPr lang="en-IN" altLang="en-US" dirty="0"/>
              <a:t>PC-ABS blend.</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4"/>
          <a:tile tx="0" ty="0" sx="100000" sy="100000" flip="none" algn="tl"/>
        </a:blipFill>
        <a:effectLst/>
      </p:bgPr>
    </p:bg>
    <p:spTree>
      <p:nvGrpSpPr>
        <p:cNvPr id="1" name=""/>
        <p:cNvGrpSpPr/>
        <p:nvPr/>
      </p:nvGrpSpPr>
      <p:grpSpPr>
        <a:xfrm>
          <a:off x="0" y="0"/>
          <a:ext cx="0" cy="0"/>
          <a:chOff x="0" y="0"/>
          <a:chExt cx="0" cy="0"/>
        </a:xfrm>
      </p:grpSpPr>
      <p:pic>
        <p:nvPicPr>
          <p:cNvPr id="2" name="fdm">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rot="5400000">
            <a:off x="2877195" y="1588976"/>
            <a:ext cx="6227805" cy="3425293"/>
          </a:xfrm>
          <a:prstGeom prst="rect">
            <a:avLst/>
          </a:prstGeom>
        </p:spPr>
      </p:pic>
    </p:spTree>
    <p:extLst>
      <p:ext uri="{BB962C8B-B14F-4D97-AF65-F5344CB8AC3E}">
        <p14:creationId xmlns:p14="http://schemas.microsoft.com/office/powerpoint/2010/main" val="3799894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90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mute="1">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99"/>
          <p:cNvSpPr txBox="1"/>
          <p:nvPr/>
        </p:nvSpPr>
        <p:spPr>
          <a:xfrm>
            <a:off x="654050" y="405562"/>
            <a:ext cx="6997065" cy="583565"/>
          </a:xfrm>
          <a:prstGeom prst="rect">
            <a:avLst/>
          </a:prstGeom>
          <a:noFill/>
          <a:ln w="9525">
            <a:noFill/>
          </a:ln>
        </p:spPr>
        <p:txBody>
          <a:bodyPr wrap="square">
            <a:spAutoFit/>
          </a:bodyPr>
          <a:lstStyle/>
          <a:p>
            <a:pPr indent="0"/>
            <a:r>
              <a:rPr lang="en-US" sz="3200" dirty="0" smtClean="0">
                <a:ln w="22225">
                  <a:solidFill>
                    <a:schemeClr val="accent2"/>
                  </a:solidFill>
                  <a:prstDash val="solid"/>
                </a:ln>
                <a:solidFill>
                  <a:schemeClr val="accent2">
                    <a:lumMod val="40000"/>
                    <a:lumOff val="60000"/>
                  </a:schemeClr>
                </a:solidFill>
                <a:latin typeface="Times New Roman" panose="02020603050405020304" charset="0"/>
              </a:rPr>
              <a:t>WHY OPTIMIZE?</a:t>
            </a:r>
            <a:endParaRPr lang="en-US" sz="3200" b="0" dirty="0">
              <a:ln w="22225">
                <a:solidFill>
                  <a:schemeClr val="accent2"/>
                </a:solidFill>
                <a:prstDash val="solid"/>
              </a:ln>
              <a:solidFill>
                <a:schemeClr val="accent2">
                  <a:lumMod val="40000"/>
                  <a:lumOff val="60000"/>
                </a:schemeClr>
              </a:solidFill>
              <a:effectLst/>
              <a:latin typeface="Times New Roman" panose="02020603050405020304" charset="0"/>
            </a:endParaRPr>
          </a:p>
        </p:txBody>
      </p:sp>
      <p:sp>
        <p:nvSpPr>
          <p:cNvPr id="3" name="TextBox 2"/>
          <p:cNvSpPr txBox="1"/>
          <p:nvPr/>
        </p:nvSpPr>
        <p:spPr>
          <a:xfrm>
            <a:off x="420130" y="1421027"/>
            <a:ext cx="7406515" cy="369332"/>
          </a:xfrm>
          <a:prstGeom prst="rect">
            <a:avLst/>
          </a:prstGeom>
          <a:noFill/>
        </p:spPr>
        <p:txBody>
          <a:bodyPr wrap="none" rtlCol="0">
            <a:spAutoFit/>
          </a:bodyPr>
          <a:lstStyle/>
          <a:p>
            <a:r>
              <a:rPr lang="en-US" dirty="0" smtClean="0"/>
              <a:t>A typical FDM type 3D printer can print is various process parameters such as:</a:t>
            </a:r>
            <a:endParaRPr lang="en-US" dirty="0"/>
          </a:p>
        </p:txBody>
      </p:sp>
      <p:pic>
        <p:nvPicPr>
          <p:cNvPr id="4" name="Picture 3"/>
          <p:cNvPicPr>
            <a:picLocks noChangeAspect="1"/>
          </p:cNvPicPr>
          <p:nvPr/>
        </p:nvPicPr>
        <p:blipFill>
          <a:blip r:embed="rId2"/>
          <a:stretch>
            <a:fillRect/>
          </a:stretch>
        </p:blipFill>
        <p:spPr>
          <a:xfrm>
            <a:off x="197709" y="2349778"/>
            <a:ext cx="4756494" cy="1625557"/>
          </a:xfrm>
          <a:prstGeom prst="rect">
            <a:avLst/>
          </a:prstGeom>
        </p:spPr>
      </p:pic>
      <p:sp>
        <p:nvSpPr>
          <p:cNvPr id="5" name="TextBox 4"/>
          <p:cNvSpPr txBox="1"/>
          <p:nvPr/>
        </p:nvSpPr>
        <p:spPr>
          <a:xfrm>
            <a:off x="1137708" y="4227382"/>
            <a:ext cx="2876493" cy="369332"/>
          </a:xfrm>
          <a:prstGeom prst="rect">
            <a:avLst/>
          </a:prstGeom>
          <a:noFill/>
        </p:spPr>
        <p:txBody>
          <a:bodyPr wrap="none" rtlCol="0">
            <a:spAutoFit/>
          </a:bodyPr>
          <a:lstStyle/>
          <a:p>
            <a:r>
              <a:rPr lang="en-US" dirty="0" smtClean="0"/>
              <a:t>Slice thickness (Layer height)</a:t>
            </a:r>
            <a:endParaRPr lang="en-US" dirty="0"/>
          </a:p>
        </p:txBody>
      </p:sp>
      <p:pic>
        <p:nvPicPr>
          <p:cNvPr id="2050" name="Picture 2" descr="https://filament2print.com/img/cms/blog/71/infill-typ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26413" y="2073077"/>
            <a:ext cx="3366101" cy="215430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9735111" y="4228753"/>
            <a:ext cx="1348703" cy="369332"/>
          </a:xfrm>
          <a:prstGeom prst="rect">
            <a:avLst/>
          </a:prstGeom>
          <a:noFill/>
        </p:spPr>
        <p:txBody>
          <a:bodyPr wrap="none" rtlCol="0">
            <a:spAutoFit/>
          </a:bodyPr>
          <a:lstStyle/>
          <a:p>
            <a:r>
              <a:rPr lang="en-US" dirty="0" smtClean="0"/>
              <a:t>Infill Density</a:t>
            </a:r>
            <a:endParaRPr lang="en-US" dirty="0"/>
          </a:p>
        </p:txBody>
      </p:sp>
      <p:pic>
        <p:nvPicPr>
          <p:cNvPr id="2052" name="Picture 4" descr="Settings for 3D Printer Nozzle Sizes – From Small 0.2mm to Large 0.8m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16749" y="2361504"/>
            <a:ext cx="2847117" cy="160150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6121905" y="4228753"/>
            <a:ext cx="1436804" cy="369332"/>
          </a:xfrm>
          <a:prstGeom prst="rect">
            <a:avLst/>
          </a:prstGeom>
          <a:noFill/>
        </p:spPr>
        <p:txBody>
          <a:bodyPr wrap="none" rtlCol="0">
            <a:spAutoFit/>
          </a:bodyPr>
          <a:lstStyle/>
          <a:p>
            <a:r>
              <a:rPr lang="en-US" dirty="0" smtClean="0"/>
              <a:t>Nozzle Speed</a:t>
            </a:r>
            <a:endParaRPr lang="en-US" dirty="0"/>
          </a:p>
        </p:txBody>
      </p:sp>
      <p:sp>
        <p:nvSpPr>
          <p:cNvPr id="8" name="TextBox 7"/>
          <p:cNvSpPr txBox="1"/>
          <p:nvPr/>
        </p:nvSpPr>
        <p:spPr>
          <a:xfrm>
            <a:off x="197709" y="5288692"/>
            <a:ext cx="11726562" cy="923330"/>
          </a:xfrm>
          <a:prstGeom prst="rect">
            <a:avLst/>
          </a:prstGeom>
          <a:noFill/>
        </p:spPr>
        <p:txBody>
          <a:bodyPr wrap="square" rtlCol="0">
            <a:spAutoFit/>
          </a:bodyPr>
          <a:lstStyle/>
          <a:p>
            <a:r>
              <a:rPr lang="en-US" dirty="0" smtClean="0"/>
              <a:t>In order to build a part with </a:t>
            </a:r>
            <a:r>
              <a:rPr lang="en-US" b="1" dirty="0" smtClean="0"/>
              <a:t>good mechanical properties </a:t>
            </a:r>
            <a:r>
              <a:rPr lang="en-US" dirty="0" smtClean="0"/>
              <a:t>with </a:t>
            </a:r>
            <a:r>
              <a:rPr lang="en-US" b="1" dirty="0" smtClean="0"/>
              <a:t>less material and less time</a:t>
            </a:r>
            <a:r>
              <a:rPr lang="en-US" dirty="0" smtClean="0"/>
              <a:t>, we predict the optimum parameter settings. </a:t>
            </a:r>
          </a:p>
          <a:p>
            <a:r>
              <a:rPr lang="en-US" dirty="0" smtClean="0"/>
              <a:t>This will help manufacturers and users </a:t>
            </a:r>
            <a:r>
              <a:rPr lang="en-US" b="1" dirty="0" smtClean="0"/>
              <a:t>curtail the trial and errors </a:t>
            </a:r>
            <a:r>
              <a:rPr lang="en-US" dirty="0" smtClean="0"/>
              <a:t>of experiments saving </a:t>
            </a:r>
            <a:r>
              <a:rPr lang="en-US" b="1" dirty="0" smtClean="0"/>
              <a:t>time</a:t>
            </a:r>
            <a:r>
              <a:rPr lang="en-US" dirty="0" smtClean="0"/>
              <a:t> and </a:t>
            </a:r>
            <a:r>
              <a:rPr lang="en-US" b="1" dirty="0" smtClean="0"/>
              <a:t>money</a:t>
            </a:r>
            <a:r>
              <a:rPr lang="en-US" dirty="0" smtClean="0"/>
              <a:t>.</a:t>
            </a:r>
            <a:endParaRPr lang="en-US" dirty="0"/>
          </a:p>
        </p:txBody>
      </p:sp>
    </p:spTree>
    <p:extLst>
      <p:ext uri="{BB962C8B-B14F-4D97-AF65-F5344CB8AC3E}">
        <p14:creationId xmlns:p14="http://schemas.microsoft.com/office/powerpoint/2010/main" val="9882937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nvGraphicFramePr>
        <p:xfrm>
          <a:off x="6096000" y="2863850"/>
          <a:ext cx="416560" cy="731520"/>
        </p:xfrm>
        <a:graphic>
          <a:graphicData uri="http://schemas.openxmlformats.org/drawingml/2006/table">
            <a:tbl>
              <a:tblPr firstRow="1" bandRow="1">
                <a:tableStyleId>{5940675A-B579-460E-94D1-54222C63F5DA}</a:tableStyleId>
              </a:tblPr>
              <a:tblGrid>
                <a:gridCol w="208280">
                  <a:extLst>
                    <a:ext uri="{9D8B030D-6E8A-4147-A177-3AD203B41FA5}">
                      <a16:colId xmlns:a16="http://schemas.microsoft.com/office/drawing/2014/main" val="20000"/>
                    </a:ext>
                  </a:extLst>
                </a:gridCol>
                <a:gridCol w="208280">
                  <a:extLst>
                    <a:ext uri="{9D8B030D-6E8A-4147-A177-3AD203B41FA5}">
                      <a16:colId xmlns:a16="http://schemas.microsoft.com/office/drawing/2014/main" val="20001"/>
                    </a:ext>
                  </a:extLst>
                </a:gridCol>
              </a:tblGrid>
              <a:tr h="0">
                <a:tc>
                  <a:txBody>
                    <a:bodyPr/>
                    <a:lstStyle/>
                    <a:p>
                      <a:pPr indent="0">
                        <a:buNone/>
                      </a:pPr>
                      <a:endParaRPr lang="en-US" b="0"/>
                    </a:p>
                  </a:txBody>
                  <a:tcPr>
                    <a:lnL>
                      <a:noFill/>
                    </a:lnL>
                    <a:lnR>
                      <a:noFill/>
                    </a:lnR>
                    <a:lnT cap="flat">
                      <a:noFill/>
                    </a:lnT>
                    <a:lnB cap="flat">
                      <a:noFill/>
                    </a:lnB>
                    <a:lnTlToBr>
                      <a:noFill/>
                    </a:lnTlToBr>
                    <a:lnBlToTr>
                      <a:noFill/>
                    </a:lnBlToTr>
                    <a:noFill/>
                  </a:tcPr>
                </a:tc>
                <a:tc>
                  <a:txBody>
                    <a:bodyPr/>
                    <a:lstStyle/>
                    <a:p>
                      <a:pPr>
                        <a:buNone/>
                      </a:pPr>
                      <a:endParaRPr lang="en-US"/>
                    </a:p>
                  </a:txBody>
                  <a:tcPr>
                    <a:lnL>
                      <a:noFill/>
                    </a:lnL>
                    <a:lnR>
                      <a:noFill/>
                    </a:lnR>
                    <a:lnT>
                      <a:noFill/>
                    </a:lnT>
                    <a:lnB cap="flat">
                      <a:noFill/>
                    </a:lnB>
                    <a:lnTlToBr>
                      <a:noFill/>
                    </a:lnTlToBr>
                    <a:lnBlToTr>
                      <a:noFill/>
                    </a:lnBlToTr>
                    <a:solidFill>
                      <a:srgbClr val="FFFFFF"/>
                    </a:solidFill>
                  </a:tcPr>
                </a:tc>
                <a:extLst>
                  <a:ext uri="{0D108BD9-81ED-4DB2-BD59-A6C34878D82A}">
                    <a16:rowId xmlns:a16="http://schemas.microsoft.com/office/drawing/2014/main" val="10000"/>
                  </a:ext>
                </a:extLst>
              </a:tr>
              <a:tr h="0">
                <a:tc>
                  <a:txBody>
                    <a:bodyPr/>
                    <a:lstStyle/>
                    <a:p>
                      <a:pPr indent="0">
                        <a:buNone/>
                      </a:pPr>
                      <a:endParaRPr lang="en-US"/>
                    </a:p>
                  </a:txBody>
                  <a:tcPr>
                    <a:lnL>
                      <a:noFill/>
                    </a:lnL>
                    <a:lnR>
                      <a:noFill/>
                    </a:lnR>
                    <a:lnT cap="flat">
                      <a:noFill/>
                    </a:lnT>
                    <a:lnB cap="flat">
                      <a:noFill/>
                    </a:lnB>
                    <a:lnTlToBr>
                      <a:noFill/>
                    </a:lnTlToBr>
                    <a:lnBlToTr>
                      <a:noFill/>
                    </a:lnBlToTr>
                    <a:noFill/>
                  </a:tcPr>
                </a:tc>
                <a:tc>
                  <a:txBody>
                    <a:bodyPr/>
                    <a:lstStyle/>
                    <a:p>
                      <a:pPr indent="0">
                        <a:buNone/>
                      </a:pPr>
                      <a:endParaRPr lang="en-US"/>
                    </a:p>
                  </a:txBody>
                  <a:tcPr>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0" name="Text Box 99"/>
          <p:cNvSpPr txBox="1"/>
          <p:nvPr/>
        </p:nvSpPr>
        <p:spPr>
          <a:xfrm>
            <a:off x="786765" y="380365"/>
            <a:ext cx="6763385" cy="521970"/>
          </a:xfrm>
          <a:prstGeom prst="rect">
            <a:avLst/>
          </a:prstGeom>
          <a:noFill/>
          <a:ln w="9525">
            <a:noFill/>
          </a:ln>
        </p:spPr>
        <p:txBody>
          <a:bodyPr wrap="square">
            <a:spAutoFit/>
            <a:scene3d>
              <a:camera prst="orthographicFront"/>
              <a:lightRig rig="threePt" dir="t"/>
            </a:scene3d>
          </a:bodyPr>
          <a:lstStyle/>
          <a:p>
            <a:pPr indent="0"/>
            <a:r>
              <a:rPr lang="en-US" sz="2800" b="1">
                <a:ln w="22225">
                  <a:solidFill>
                    <a:schemeClr val="accent2"/>
                  </a:solidFill>
                  <a:prstDash val="solid"/>
                </a:ln>
                <a:solidFill>
                  <a:schemeClr val="accent2">
                    <a:lumMod val="40000"/>
                    <a:lumOff val="60000"/>
                  </a:schemeClr>
                </a:solidFill>
                <a:latin typeface="Times New Roman" panose="02020603050405020304" charset="0"/>
              </a:rPr>
              <a:t>OBJECTIVE OF THE WORK</a:t>
            </a:r>
          </a:p>
        </p:txBody>
      </p:sp>
      <p:sp>
        <p:nvSpPr>
          <p:cNvPr id="4" name="Text Box 3"/>
          <p:cNvSpPr txBox="1"/>
          <p:nvPr/>
        </p:nvSpPr>
        <p:spPr>
          <a:xfrm>
            <a:off x="685800" y="963295"/>
            <a:ext cx="5309235" cy="2799715"/>
          </a:xfrm>
          <a:prstGeom prst="rect">
            <a:avLst/>
          </a:prstGeom>
          <a:noFill/>
          <a:ln w="9525">
            <a:noFill/>
          </a:ln>
        </p:spPr>
        <p:txBody>
          <a:bodyPr wrap="square">
            <a:spAutoFit/>
          </a:bodyPr>
          <a:lstStyle/>
          <a:p>
            <a:pPr indent="0">
              <a:buFont typeface="Arial" panose="020B0604020202020204" pitchFamily="34" charset="0"/>
              <a:buNone/>
            </a:pPr>
            <a:r>
              <a:rPr lang="en-US" sz="1600" b="0" dirty="0">
                <a:latin typeface="Agency FB" panose="020B0503020202020204" charset="0"/>
                <a:ea typeface="SimSun" panose="02010600030101010101" pitchFamily="2" charset="-122"/>
                <a:cs typeface="Agency FB" panose="020B0503020202020204" charset="0"/>
              </a:rPr>
              <a:t>FDM process has a huge application in automotive manufacturing industries. It is capable of producing complex light weight parts in record time.</a:t>
            </a:r>
          </a:p>
          <a:p>
            <a:pPr indent="0">
              <a:buFont typeface="Arial" panose="020B0604020202020204" pitchFamily="34" charset="0"/>
              <a:buNone/>
            </a:pPr>
            <a:endParaRPr lang="en-US" sz="1600" b="0" dirty="0">
              <a:latin typeface="Agency FB" panose="020B0503020202020204" charset="0"/>
              <a:ea typeface="SimSun" panose="02010600030101010101" pitchFamily="2" charset="-122"/>
              <a:cs typeface="Agency FB" panose="020B0503020202020204" charset="0"/>
            </a:endParaRPr>
          </a:p>
          <a:p>
            <a:pPr indent="0">
              <a:buFont typeface="Arial" panose="020B0604020202020204" pitchFamily="34" charset="0"/>
              <a:buNone/>
            </a:pPr>
            <a:r>
              <a:rPr lang="en-US" sz="1600" dirty="0">
                <a:latin typeface="Agency FB" panose="020B0503020202020204" charset="0"/>
                <a:cs typeface="Agency FB" panose="020B0503020202020204" charset="0"/>
              </a:rPr>
              <a:t>In the present work, input characters like </a:t>
            </a:r>
          </a:p>
          <a:p>
            <a:pPr marL="285750" indent="-285750">
              <a:buFont typeface="Arial" panose="020B0604020202020204" pitchFamily="34" charset="0"/>
              <a:buChar char="•"/>
            </a:pPr>
            <a:r>
              <a:rPr lang="en-US" sz="1600" dirty="0">
                <a:latin typeface="Agency FB" panose="020B0503020202020204" charset="0"/>
                <a:cs typeface="Agency FB" panose="020B0503020202020204" charset="0"/>
              </a:rPr>
              <a:t>Nozzle head speed,</a:t>
            </a:r>
          </a:p>
          <a:p>
            <a:pPr marL="285750" indent="-285750">
              <a:buFont typeface="Arial" panose="020B0604020202020204" pitchFamily="34" charset="0"/>
              <a:buChar char="•"/>
            </a:pPr>
            <a:r>
              <a:rPr lang="en-US" sz="1600" dirty="0">
                <a:latin typeface="Agency FB" panose="020B0503020202020204" charset="0"/>
                <a:cs typeface="Agency FB" panose="020B0503020202020204" charset="0"/>
              </a:rPr>
              <a:t>Slice thickness</a:t>
            </a:r>
          </a:p>
          <a:p>
            <a:pPr marL="285750" indent="-285750">
              <a:buFont typeface="Arial" panose="020B0604020202020204" pitchFamily="34" charset="0"/>
              <a:buChar char="•"/>
            </a:pPr>
            <a:r>
              <a:rPr lang="en-US" sz="1600" dirty="0">
                <a:latin typeface="Agency FB" panose="020B0503020202020204" charset="0"/>
                <a:cs typeface="Agency FB" panose="020B0503020202020204" charset="0"/>
              </a:rPr>
              <a:t>Infill density </a:t>
            </a:r>
          </a:p>
          <a:p>
            <a:pPr indent="0">
              <a:buFont typeface="Arial" panose="020B0604020202020204" pitchFamily="34" charset="0"/>
              <a:buNone/>
            </a:pPr>
            <a:r>
              <a:rPr lang="en-IN" altLang="en-US" sz="1600" dirty="0">
                <a:latin typeface="Agency FB" panose="020B0503020202020204" charset="0"/>
                <a:cs typeface="Agency FB" panose="020B0503020202020204" charset="0"/>
              </a:rPr>
              <a:t> </a:t>
            </a:r>
            <a:r>
              <a:rPr lang="en-US" sz="1600" dirty="0">
                <a:latin typeface="Agency FB" panose="020B0503020202020204" charset="0"/>
                <a:cs typeface="Agency FB" panose="020B0503020202020204" charset="0"/>
              </a:rPr>
              <a:t>of Nylon 6 is </a:t>
            </a:r>
            <a:r>
              <a:rPr lang="en-US" sz="1600" b="1" dirty="0">
                <a:latin typeface="Agency FB" panose="020B0503020202020204" charset="0"/>
                <a:cs typeface="Agency FB" panose="020B0503020202020204" charset="0"/>
              </a:rPr>
              <a:t>optimized</a:t>
            </a:r>
            <a:r>
              <a:rPr lang="en-US" sz="1600" dirty="0">
                <a:latin typeface="Agency FB" panose="020B0503020202020204" charset="0"/>
                <a:cs typeface="Agency FB" panose="020B0503020202020204" charset="0"/>
              </a:rPr>
              <a:t> using Grey Taguchi technique.</a:t>
            </a:r>
          </a:p>
          <a:p>
            <a:pPr indent="0">
              <a:buFont typeface="Arial" panose="020B0604020202020204" pitchFamily="34" charset="0"/>
              <a:buNone/>
            </a:pPr>
            <a:endParaRPr lang="en-US" sz="1600" dirty="0">
              <a:latin typeface="Agency FB" panose="020B0503020202020204" charset="0"/>
              <a:cs typeface="Agency FB" panose="020B0503020202020204" charset="0"/>
            </a:endParaRPr>
          </a:p>
          <a:p>
            <a:pPr indent="0">
              <a:buFont typeface="Arial" panose="020B0604020202020204" pitchFamily="34" charset="0"/>
              <a:buNone/>
            </a:pPr>
            <a:r>
              <a:rPr lang="en-US" sz="1600" dirty="0">
                <a:latin typeface="Agency FB" panose="020B0503020202020204" charset="0"/>
                <a:cs typeface="Agency FB" panose="020B0503020202020204" charset="0"/>
              </a:rPr>
              <a:t>The input parameters are optimized in order to achieve the best </a:t>
            </a:r>
            <a:r>
              <a:rPr lang="en-US" sz="1600" dirty="0" smtClean="0">
                <a:latin typeface="Agency FB" panose="020B0503020202020204" charset="0"/>
                <a:cs typeface="Agency FB" panose="020B0503020202020204" charset="0"/>
              </a:rPr>
              <a:t>possible, Build </a:t>
            </a:r>
            <a:r>
              <a:rPr lang="en-US" sz="1600" dirty="0">
                <a:latin typeface="Agency FB" panose="020B0503020202020204" charset="0"/>
                <a:cs typeface="Agency FB" panose="020B0503020202020204" charset="0"/>
              </a:rPr>
              <a:t>time </a:t>
            </a:r>
            <a:r>
              <a:rPr lang="en-US" sz="1600" dirty="0" smtClean="0">
                <a:latin typeface="Agency FB" panose="020B0503020202020204" charset="0"/>
                <a:cs typeface="Agency FB" panose="020B0503020202020204" charset="0"/>
              </a:rPr>
              <a:t>of </a:t>
            </a:r>
            <a:r>
              <a:rPr lang="en-US" sz="1600" dirty="0">
                <a:latin typeface="Agency FB" panose="020B0503020202020204" charset="0"/>
                <a:cs typeface="Agency FB" panose="020B0503020202020204" charset="0"/>
              </a:rPr>
              <a:t>the build parts.</a:t>
            </a:r>
          </a:p>
        </p:txBody>
      </p:sp>
      <p:sp>
        <p:nvSpPr>
          <p:cNvPr id="5" name="Text Box 4"/>
          <p:cNvSpPr txBox="1"/>
          <p:nvPr/>
        </p:nvSpPr>
        <p:spPr>
          <a:xfrm>
            <a:off x="786765" y="4135120"/>
            <a:ext cx="2586990" cy="829945"/>
          </a:xfrm>
          <a:prstGeom prst="rect">
            <a:avLst/>
          </a:prstGeom>
          <a:noFill/>
        </p:spPr>
        <p:txBody>
          <a:bodyPr wrap="square" rtlCol="0" anchor="t">
            <a:spAutoFit/>
            <a:scene3d>
              <a:camera prst="orthographicFront"/>
              <a:lightRig rig="threePt" dir="t"/>
            </a:scene3d>
          </a:bodyPr>
          <a:lstStyle/>
          <a:p>
            <a:pPr indent="0"/>
            <a:r>
              <a:rPr lang="en-IN" altLang="en-US" sz="2400">
                <a:ln w="22225">
                  <a:solidFill>
                    <a:schemeClr val="accent2"/>
                  </a:solidFill>
                  <a:prstDash val="solid"/>
                </a:ln>
                <a:solidFill>
                  <a:schemeClr val="accent2">
                    <a:lumMod val="40000"/>
                    <a:lumOff val="60000"/>
                  </a:schemeClr>
                </a:solidFill>
              </a:rPr>
              <a:t>Choice of material: </a:t>
            </a:r>
          </a:p>
          <a:p>
            <a:pPr indent="0"/>
            <a:endParaRPr lang="en-IN" altLang="en-US" sz="2400">
              <a:ln w="22225">
                <a:solidFill>
                  <a:schemeClr val="accent2"/>
                </a:solidFill>
                <a:prstDash val="solid"/>
              </a:ln>
              <a:solidFill>
                <a:schemeClr val="accent2">
                  <a:lumMod val="40000"/>
                  <a:lumOff val="60000"/>
                </a:schemeClr>
              </a:solidFill>
            </a:endParaRPr>
          </a:p>
        </p:txBody>
      </p:sp>
      <p:sp>
        <p:nvSpPr>
          <p:cNvPr id="6" name="Text Box 5"/>
          <p:cNvSpPr txBox="1"/>
          <p:nvPr/>
        </p:nvSpPr>
        <p:spPr>
          <a:xfrm>
            <a:off x="786765" y="4655820"/>
            <a:ext cx="6255385" cy="2031325"/>
          </a:xfrm>
          <a:prstGeom prst="rect">
            <a:avLst/>
          </a:prstGeom>
          <a:noFill/>
        </p:spPr>
        <p:txBody>
          <a:bodyPr wrap="square" rtlCol="0">
            <a:spAutoFit/>
          </a:bodyPr>
          <a:lstStyle/>
          <a:p>
            <a:pPr indent="0">
              <a:buFont typeface="Arial" panose="020B0604020202020204" pitchFamily="34" charset="0"/>
              <a:buNone/>
            </a:pPr>
            <a:r>
              <a:rPr lang="en-US" dirty="0"/>
              <a:t>Nylon 6, an engineering derived thermoplastic material was used due to its excellent mechanical properties such as </a:t>
            </a:r>
          </a:p>
          <a:p>
            <a:pPr marL="285750" indent="-285750">
              <a:buFont typeface="Arial" panose="020B0604020202020204" pitchFamily="34" charset="0"/>
              <a:buChar char="•"/>
            </a:pPr>
            <a:r>
              <a:rPr lang="en-US" dirty="0"/>
              <a:t>toughness, </a:t>
            </a:r>
          </a:p>
          <a:p>
            <a:pPr marL="285750" indent="-285750">
              <a:buFont typeface="Arial" panose="020B0604020202020204" pitchFamily="34" charset="0"/>
              <a:buChar char="•"/>
            </a:pPr>
            <a:r>
              <a:rPr lang="en-US" dirty="0"/>
              <a:t>elasticity</a:t>
            </a:r>
          </a:p>
          <a:p>
            <a:pPr marL="285750" indent="-285750">
              <a:buFont typeface="Arial" panose="020B0604020202020204" pitchFamily="34" charset="0"/>
              <a:buChar char="•"/>
            </a:pPr>
            <a:r>
              <a:rPr lang="en-US" dirty="0"/>
              <a:t>chemical resistivity, </a:t>
            </a:r>
            <a:endParaRPr lang="en-US" dirty="0"/>
          </a:p>
          <a:p>
            <a:r>
              <a:rPr lang="en-US" dirty="0" smtClean="0"/>
              <a:t>Nylon 6 is </a:t>
            </a:r>
            <a:r>
              <a:rPr lang="en-US" b="1" dirty="0" smtClean="0"/>
              <a:t>Hydrostatic</a:t>
            </a:r>
            <a:r>
              <a:rPr lang="en-US" dirty="0" smtClean="0"/>
              <a:t> as it reacts with ambient air. Fully enclosed FDM Printer is used to print it.</a:t>
            </a:r>
          </a:p>
        </p:txBody>
      </p:sp>
      <p:pic>
        <p:nvPicPr>
          <p:cNvPr id="28" name="Picture 28"/>
          <p:cNvPicPr>
            <a:picLocks noChangeAspect="1"/>
          </p:cNvPicPr>
          <p:nvPr/>
        </p:nvPicPr>
        <p:blipFill>
          <a:blip r:embed="rId2"/>
          <a:stretch>
            <a:fillRect/>
          </a:stretch>
        </p:blipFill>
        <p:spPr>
          <a:xfrm>
            <a:off x="6127750" y="1212533"/>
            <a:ext cx="6064250" cy="1329055"/>
          </a:xfrm>
          <a:prstGeom prst="rect">
            <a:avLst/>
          </a:prstGeom>
        </p:spPr>
      </p:pic>
      <p:pic>
        <p:nvPicPr>
          <p:cNvPr id="24" name="Picture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7139940" y="3976053"/>
            <a:ext cx="4950460" cy="1969135"/>
          </a:xfrm>
          <a:prstGeom prst="rect">
            <a:avLst/>
          </a:prstGeom>
          <a:noFill/>
        </p:spPr>
      </p:pic>
      <p:sp>
        <p:nvSpPr>
          <p:cNvPr id="7" name="Text Box 6"/>
          <p:cNvSpPr txBox="1"/>
          <p:nvPr/>
        </p:nvSpPr>
        <p:spPr>
          <a:xfrm>
            <a:off x="8585200" y="6077585"/>
            <a:ext cx="3041650" cy="368300"/>
          </a:xfrm>
          <a:prstGeom prst="rect">
            <a:avLst/>
          </a:prstGeom>
          <a:noFill/>
          <a:ln w="9525">
            <a:noFill/>
          </a:ln>
        </p:spPr>
        <p:txBody>
          <a:bodyPr wrap="square">
            <a:spAutoFit/>
          </a:bodyPr>
          <a:lstStyle/>
          <a:p>
            <a:pPr indent="0"/>
            <a:r>
              <a:rPr lang="en-US" b="1">
                <a:latin typeface="Times New Roman" panose="02020603050405020304" charset="0"/>
              </a:rPr>
              <a:t>Nylon 6 Specimen</a:t>
            </a:r>
            <a:endParaRPr lang="en-US"/>
          </a:p>
        </p:txBody>
      </p:sp>
      <p:sp>
        <p:nvSpPr>
          <p:cNvPr id="8" name="Text Box 7"/>
          <p:cNvSpPr txBox="1"/>
          <p:nvPr/>
        </p:nvSpPr>
        <p:spPr>
          <a:xfrm>
            <a:off x="6690360" y="2867025"/>
            <a:ext cx="3549015" cy="337185"/>
          </a:xfrm>
          <a:prstGeom prst="rect">
            <a:avLst/>
          </a:prstGeom>
          <a:noFill/>
          <a:ln w="9525">
            <a:noFill/>
          </a:ln>
        </p:spPr>
        <p:txBody>
          <a:bodyPr wrap="square">
            <a:spAutoFit/>
          </a:bodyPr>
          <a:lstStyle/>
          <a:p>
            <a:pPr indent="0"/>
            <a:r>
              <a:rPr lang="en-US" sz="1600" b="0">
                <a:latin typeface="Times New Roman" panose="02020603050405020304" charset="0"/>
                <a:ea typeface="SimSun" panose="02010600030101010101" pitchFamily="2" charset="-122"/>
                <a:cs typeface="Times New Roman" panose="02020603050405020304" charset="0"/>
              </a:rPr>
              <a:t>Schematic diagram of specimen</a:t>
            </a:r>
            <a:endParaRPr lang="en-US" sz="160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p:nvPr/>
        </p:nvGraphicFramePr>
        <p:xfrm>
          <a:off x="734378" y="405130"/>
          <a:ext cx="5387975" cy="1341120"/>
        </p:xfrm>
        <a:graphic>
          <a:graphicData uri="http://schemas.openxmlformats.org/drawingml/2006/table">
            <a:tbl>
              <a:tblPr firstRow="1" bandRow="1">
                <a:tableStyleId>{5940675A-B579-460E-94D1-54222C63F5DA}</a:tableStyleId>
              </a:tblPr>
              <a:tblGrid>
                <a:gridCol w="1146175">
                  <a:extLst>
                    <a:ext uri="{9D8B030D-6E8A-4147-A177-3AD203B41FA5}">
                      <a16:colId xmlns:a16="http://schemas.microsoft.com/office/drawing/2014/main" val="20000"/>
                    </a:ext>
                  </a:extLst>
                </a:gridCol>
                <a:gridCol w="1147763">
                  <a:extLst>
                    <a:ext uri="{9D8B030D-6E8A-4147-A177-3AD203B41FA5}">
                      <a16:colId xmlns:a16="http://schemas.microsoft.com/office/drawing/2014/main" val="20001"/>
                    </a:ext>
                  </a:extLst>
                </a:gridCol>
                <a:gridCol w="1031875">
                  <a:extLst>
                    <a:ext uri="{9D8B030D-6E8A-4147-A177-3AD203B41FA5}">
                      <a16:colId xmlns:a16="http://schemas.microsoft.com/office/drawing/2014/main" val="20002"/>
                    </a:ext>
                  </a:extLst>
                </a:gridCol>
                <a:gridCol w="1030287">
                  <a:extLst>
                    <a:ext uri="{9D8B030D-6E8A-4147-A177-3AD203B41FA5}">
                      <a16:colId xmlns:a16="http://schemas.microsoft.com/office/drawing/2014/main" val="20003"/>
                    </a:ext>
                  </a:extLst>
                </a:gridCol>
                <a:gridCol w="1031875">
                  <a:extLst>
                    <a:ext uri="{9D8B030D-6E8A-4147-A177-3AD203B41FA5}">
                      <a16:colId xmlns:a16="http://schemas.microsoft.com/office/drawing/2014/main" val="20004"/>
                    </a:ext>
                  </a:extLst>
                </a:gridCol>
              </a:tblGrid>
              <a:tr h="165100">
                <a:tc rowSpan="2">
                  <a:txBody>
                    <a:bodyPr/>
                    <a:lstStyle/>
                    <a:p>
                      <a:pPr indent="0" algn="ctr">
                        <a:buNone/>
                      </a:pPr>
                      <a:r>
                        <a:rPr lang="en-US" sz="1100" b="0">
                          <a:solidFill>
                            <a:srgbClr val="000000"/>
                          </a:solidFill>
                          <a:latin typeface="Calibri" panose="020F0502020204030204" charset="0"/>
                          <a:cs typeface="Calibri" panose="020F0502020204030204" charset="0"/>
                        </a:rPr>
                        <a:t>Symbol</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rowSpan="2">
                  <a:txBody>
                    <a:bodyPr/>
                    <a:lstStyle/>
                    <a:p>
                      <a:pPr indent="0" algn="ctr">
                        <a:buNone/>
                      </a:pPr>
                      <a:r>
                        <a:rPr lang="en-US" sz="1100" b="0">
                          <a:solidFill>
                            <a:srgbClr val="000000"/>
                          </a:solidFill>
                          <a:latin typeface="Calibri" panose="020F0502020204030204" charset="0"/>
                          <a:cs typeface="Calibri" panose="020F0502020204030204" charset="0"/>
                        </a:rPr>
                        <a:t>Factors</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gridSpan="3">
                  <a:txBody>
                    <a:bodyPr/>
                    <a:lstStyle/>
                    <a:p>
                      <a:pPr indent="0" algn="ctr">
                        <a:buNone/>
                      </a:pPr>
                      <a:r>
                        <a:rPr lang="en-US" sz="1100" b="0">
                          <a:solidFill>
                            <a:srgbClr val="000000"/>
                          </a:solidFill>
                          <a:latin typeface="Calibri" panose="020F0502020204030204" charset="0"/>
                          <a:cs typeface="Calibri" panose="020F0502020204030204" charset="0"/>
                        </a:rPr>
                        <a:t>Levels</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hMerge="1">
                  <a:txBody>
                    <a:bodyPr/>
                    <a:lstStyle/>
                    <a:p>
                      <a:endParaRPr lang="en-US"/>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en-US"/>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165100">
                <a:tc vMerge="1">
                  <a:txBody>
                    <a:bodyPr/>
                    <a:lstStyle/>
                    <a:p>
                      <a:endParaRPr lang="en-US"/>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en-US"/>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sz="1100" b="0">
                          <a:solidFill>
                            <a:srgbClr val="000000"/>
                          </a:solidFill>
                          <a:latin typeface="Calibri" panose="020F0502020204030204" charset="0"/>
                          <a:cs typeface="Calibri" panose="020F0502020204030204" charset="0"/>
                        </a:rPr>
                        <a:t>1</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2</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3</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extLst>
                  <a:ext uri="{0D108BD9-81ED-4DB2-BD59-A6C34878D82A}">
                    <a16:rowId xmlns:a16="http://schemas.microsoft.com/office/drawing/2014/main" val="10001"/>
                  </a:ext>
                </a:extLst>
              </a:tr>
              <a:tr h="165100">
                <a:tc>
                  <a:txBody>
                    <a:bodyPr/>
                    <a:lstStyle/>
                    <a:p>
                      <a:pPr indent="0" algn="ctr">
                        <a:buNone/>
                      </a:pPr>
                      <a:r>
                        <a:rPr lang="en-US" sz="1100" b="0">
                          <a:solidFill>
                            <a:srgbClr val="000000"/>
                          </a:solidFill>
                          <a:latin typeface="Calibri" panose="020F0502020204030204" charset="0"/>
                          <a:cs typeface="Calibri" panose="020F0502020204030204" charset="0"/>
                        </a:rPr>
                        <a:t>A</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Slice Thickness (mm), ST</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0.1</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0.2</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0.3</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5280">
                <a:tc>
                  <a:txBody>
                    <a:bodyPr/>
                    <a:lstStyle/>
                    <a:p>
                      <a:pPr indent="0" algn="ctr">
                        <a:buNone/>
                      </a:pPr>
                      <a:r>
                        <a:rPr lang="en-US" sz="1100" b="0">
                          <a:solidFill>
                            <a:srgbClr val="000000"/>
                          </a:solidFill>
                          <a:latin typeface="Calibri" panose="020F0502020204030204" charset="0"/>
                          <a:cs typeface="Calibri" panose="020F0502020204030204" charset="0"/>
                        </a:rPr>
                        <a:t>B</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Head Speed (m/min), HS</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25</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45</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65</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65100">
                <a:tc>
                  <a:txBody>
                    <a:bodyPr/>
                    <a:lstStyle/>
                    <a:p>
                      <a:pPr indent="0" algn="ctr">
                        <a:buNone/>
                      </a:pPr>
                      <a:r>
                        <a:rPr lang="en-US" sz="1100" b="0">
                          <a:solidFill>
                            <a:srgbClr val="000000"/>
                          </a:solidFill>
                          <a:latin typeface="Calibri" panose="020F0502020204030204" charset="0"/>
                          <a:cs typeface="Calibri" panose="020F0502020204030204" charset="0"/>
                        </a:rPr>
                        <a:t>C</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Infill Desity (%), ID</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20</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50</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90</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00" name="Text Box 99"/>
          <p:cNvSpPr txBox="1"/>
          <p:nvPr/>
        </p:nvSpPr>
        <p:spPr>
          <a:xfrm>
            <a:off x="1448435" y="1851660"/>
            <a:ext cx="4279265" cy="337185"/>
          </a:xfrm>
          <a:prstGeom prst="rect">
            <a:avLst/>
          </a:prstGeom>
          <a:noFill/>
          <a:ln w="9525">
            <a:noFill/>
          </a:ln>
        </p:spPr>
        <p:txBody>
          <a:bodyPr wrap="square">
            <a:spAutoFit/>
          </a:bodyPr>
          <a:lstStyle/>
          <a:p>
            <a:pPr indent="0"/>
            <a:r>
              <a:rPr lang="en-US" sz="1600" b="0" u="sng">
                <a:latin typeface="Calibri" panose="020F0502020204030204" charset="0"/>
                <a:ea typeface="SimSun" panose="02010600030101010101" pitchFamily="2" charset="-122"/>
              </a:rPr>
              <a:t>Table 1: Levels of experimental input parameters</a:t>
            </a:r>
            <a:endParaRPr lang="en-US" sz="1600" u="sng"/>
          </a:p>
        </p:txBody>
      </p:sp>
      <p:graphicFrame>
        <p:nvGraphicFramePr>
          <p:cNvPr id="3" name="Table 2"/>
          <p:cNvGraphicFramePr/>
          <p:nvPr/>
        </p:nvGraphicFramePr>
        <p:xfrm>
          <a:off x="734695" y="3746500"/>
          <a:ext cx="5930900" cy="2346960"/>
        </p:xfrm>
        <a:graphic>
          <a:graphicData uri="http://schemas.openxmlformats.org/drawingml/2006/table">
            <a:tbl>
              <a:tblPr firstRow="1" bandRow="1">
                <a:tableStyleId>{5940675A-B579-460E-94D1-54222C63F5DA}</a:tableStyleId>
              </a:tblPr>
              <a:tblGrid>
                <a:gridCol w="1262063">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179512">
                  <a:extLst>
                    <a:ext uri="{9D8B030D-6E8A-4147-A177-3AD203B41FA5}">
                      <a16:colId xmlns:a16="http://schemas.microsoft.com/office/drawing/2014/main" val="20002"/>
                    </a:ext>
                  </a:extLst>
                </a:gridCol>
                <a:gridCol w="1100138">
                  <a:extLst>
                    <a:ext uri="{9D8B030D-6E8A-4147-A177-3AD203B41FA5}">
                      <a16:colId xmlns:a16="http://schemas.microsoft.com/office/drawing/2014/main" val="20003"/>
                    </a:ext>
                  </a:extLst>
                </a:gridCol>
                <a:gridCol w="941387">
                  <a:extLst>
                    <a:ext uri="{9D8B030D-6E8A-4147-A177-3AD203B41FA5}">
                      <a16:colId xmlns:a16="http://schemas.microsoft.com/office/drawing/2014/main" val="20004"/>
                    </a:ext>
                  </a:extLst>
                </a:gridCol>
              </a:tblGrid>
              <a:tr h="335280">
                <a:tc rowSpan="4">
                  <a:txBody>
                    <a:bodyPr/>
                    <a:lstStyle/>
                    <a:p>
                      <a:pPr indent="0" algn="ctr">
                        <a:buNone/>
                      </a:pPr>
                      <a:r>
                        <a:rPr lang="en-US" sz="1100" b="0">
                          <a:solidFill>
                            <a:srgbClr val="000000"/>
                          </a:solidFill>
                          <a:latin typeface="Calibri" panose="020F0502020204030204" charset="0"/>
                          <a:cs typeface="Calibri" panose="020F0502020204030204" charset="0"/>
                        </a:rPr>
                        <a:t>Exp. No</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gridSpan="3">
                  <a:txBody>
                    <a:bodyPr/>
                    <a:lstStyle/>
                    <a:p>
                      <a:pPr indent="0" algn="ctr">
                        <a:buNone/>
                      </a:pPr>
                      <a:r>
                        <a:rPr lang="en-US" sz="1100" b="0">
                          <a:solidFill>
                            <a:srgbClr val="000000"/>
                          </a:solidFill>
                          <a:latin typeface="Calibri" panose="020F0502020204030204" charset="0"/>
                          <a:cs typeface="Calibri" panose="020F0502020204030204" charset="0"/>
                        </a:rPr>
                        <a:t>Coded Input parameters</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hMerge="1">
                  <a:txBody>
                    <a:bodyPr/>
                    <a:lstStyle/>
                    <a:p>
                      <a:endParaRPr lang="en-US"/>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en-US"/>
                    </a:p>
                  </a:txBody>
                  <a:tcPr>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sz="1100" b="0">
                          <a:solidFill>
                            <a:srgbClr val="000000"/>
                          </a:solidFill>
                          <a:latin typeface="Calibri" panose="020F0502020204030204" charset="0"/>
                          <a:cs typeface="Calibri" panose="020F0502020204030204" charset="0"/>
                        </a:rPr>
                        <a:t>Output parameter</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extLst>
                  <a:ext uri="{0D108BD9-81ED-4DB2-BD59-A6C34878D82A}">
                    <a16:rowId xmlns:a16="http://schemas.microsoft.com/office/drawing/2014/main" val="10000"/>
                  </a:ext>
                </a:extLst>
              </a:tr>
              <a:tr h="152400">
                <a:tc vMerge="1">
                  <a:txBody>
                    <a:bodyPr/>
                    <a:lstStyle/>
                    <a:p>
                      <a:endParaRPr lang="en-US"/>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indent="0" algn="ctr">
                        <a:buNone/>
                      </a:pPr>
                      <a:r>
                        <a:rPr lang="en-US" sz="1100" b="0">
                          <a:solidFill>
                            <a:srgbClr val="000000"/>
                          </a:solidFill>
                          <a:latin typeface="Calibri" panose="020F0502020204030204" charset="0"/>
                          <a:cs typeface="Calibri" panose="020F0502020204030204" charset="0"/>
                        </a:rPr>
                        <a:t>Slice Thickness</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Head Speed</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Infill Desity </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Time</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extLst>
                  <a:ext uri="{0D108BD9-81ED-4DB2-BD59-A6C34878D82A}">
                    <a16:rowId xmlns:a16="http://schemas.microsoft.com/office/drawing/2014/main" val="10001"/>
                  </a:ext>
                </a:extLst>
              </a:tr>
              <a:tr h="152400">
                <a:tc vMerge="1">
                  <a:txBody>
                    <a:bodyPr/>
                    <a:lstStyle/>
                    <a:p>
                      <a:endParaRPr lang="en-US"/>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tcPr>
                </a:tc>
                <a:tc>
                  <a:txBody>
                    <a:bodyPr/>
                    <a:lstStyle/>
                    <a:p>
                      <a:pPr indent="0" algn="ctr">
                        <a:buNone/>
                      </a:pPr>
                      <a:r>
                        <a:rPr lang="en-US" sz="1100" b="0">
                          <a:solidFill>
                            <a:srgbClr val="000000"/>
                          </a:solidFill>
                          <a:latin typeface="Calibri" panose="020F0502020204030204" charset="0"/>
                          <a:cs typeface="Calibri" panose="020F0502020204030204" charset="0"/>
                        </a:rPr>
                        <a:t>ST</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HS</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ID</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T</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extLst>
                  <a:ext uri="{0D108BD9-81ED-4DB2-BD59-A6C34878D82A}">
                    <a16:rowId xmlns:a16="http://schemas.microsoft.com/office/drawing/2014/main" val="10002"/>
                  </a:ext>
                </a:extLst>
              </a:tr>
              <a:tr h="152400">
                <a:tc vMerge="1">
                  <a:txBody>
                    <a:bodyPr/>
                    <a:lstStyle/>
                    <a:p>
                      <a:endParaRPr lang="en-US"/>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sz="1100" b="0">
                          <a:solidFill>
                            <a:srgbClr val="000000"/>
                          </a:solidFill>
                          <a:latin typeface="Calibri" panose="020F0502020204030204" charset="0"/>
                          <a:cs typeface="Calibri" panose="020F0502020204030204" charset="0"/>
                        </a:rPr>
                        <a:t>(mm)</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(m/min)</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(min)</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extLst>
                  <a:ext uri="{0D108BD9-81ED-4DB2-BD59-A6C34878D82A}">
                    <a16:rowId xmlns:a16="http://schemas.microsoft.com/office/drawing/2014/main" val="10003"/>
                  </a:ext>
                </a:extLst>
              </a:tr>
              <a:tr h="152400">
                <a:tc>
                  <a:txBody>
                    <a:bodyPr/>
                    <a:lstStyle/>
                    <a:p>
                      <a:pPr indent="0" algn="ctr">
                        <a:buNone/>
                      </a:pPr>
                      <a:r>
                        <a:rPr lang="en-US" sz="1100" b="0">
                          <a:solidFill>
                            <a:srgbClr val="000000"/>
                          </a:solidFill>
                          <a:latin typeface="Calibri" panose="020F0502020204030204" charset="0"/>
                          <a:cs typeface="Calibri" panose="020F0502020204030204" charset="0"/>
                        </a:rPr>
                        <a:t>1</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1</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1</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1</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154</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52400">
                <a:tc>
                  <a:txBody>
                    <a:bodyPr/>
                    <a:lstStyle/>
                    <a:p>
                      <a:pPr indent="0" algn="ctr">
                        <a:buNone/>
                      </a:pPr>
                      <a:r>
                        <a:rPr lang="en-US" sz="1100" b="0">
                          <a:solidFill>
                            <a:srgbClr val="000000"/>
                          </a:solidFill>
                          <a:latin typeface="Calibri" panose="020F0502020204030204" charset="0"/>
                          <a:cs typeface="Calibri" panose="020F0502020204030204" charset="0"/>
                        </a:rPr>
                        <a:t>2</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1</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2</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2</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220</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52400">
                <a:tc>
                  <a:txBody>
                    <a:bodyPr/>
                    <a:lstStyle/>
                    <a:p>
                      <a:pPr indent="0" algn="ctr">
                        <a:buNone/>
                      </a:pPr>
                      <a:r>
                        <a:rPr lang="en-US" sz="1100" b="0">
                          <a:solidFill>
                            <a:srgbClr val="000000"/>
                          </a:solidFill>
                          <a:latin typeface="Calibri" panose="020F0502020204030204" charset="0"/>
                          <a:cs typeface="Calibri" panose="020F0502020204030204" charset="0"/>
                        </a:rPr>
                        <a:t>3</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1</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3</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3</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293</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52400">
                <a:tc>
                  <a:txBody>
                    <a:bodyPr/>
                    <a:lstStyle/>
                    <a:p>
                      <a:pPr indent="0" algn="ctr">
                        <a:buNone/>
                      </a:pPr>
                      <a:r>
                        <a:rPr lang="en-US" sz="1100" b="0">
                          <a:solidFill>
                            <a:srgbClr val="000000"/>
                          </a:solidFill>
                          <a:latin typeface="Calibri" panose="020F0502020204030204" charset="0"/>
                          <a:cs typeface="Calibri" panose="020F0502020204030204" charset="0"/>
                        </a:rPr>
                        <a:t>4</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2</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1</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2</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111</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52400">
                <a:tc>
                  <a:txBody>
                    <a:bodyPr/>
                    <a:lstStyle/>
                    <a:p>
                      <a:pPr indent="0" algn="ctr">
                        <a:buNone/>
                      </a:pPr>
                      <a:r>
                        <a:rPr lang="en-US" sz="1100" b="0">
                          <a:solidFill>
                            <a:srgbClr val="000000"/>
                          </a:solidFill>
                          <a:latin typeface="Calibri" panose="020F0502020204030204" charset="0"/>
                          <a:cs typeface="Calibri" panose="020F0502020204030204" charset="0"/>
                        </a:rPr>
                        <a:t>5</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2</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2</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3</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148</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52400">
                <a:tc>
                  <a:txBody>
                    <a:bodyPr/>
                    <a:lstStyle/>
                    <a:p>
                      <a:pPr indent="0" algn="ctr">
                        <a:buNone/>
                      </a:pPr>
                      <a:r>
                        <a:rPr lang="en-US" sz="1100" b="0">
                          <a:solidFill>
                            <a:srgbClr val="000000"/>
                          </a:solidFill>
                          <a:latin typeface="Calibri" panose="020F0502020204030204" charset="0"/>
                          <a:cs typeface="Calibri" panose="020F0502020204030204" charset="0"/>
                        </a:rPr>
                        <a:t>6</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2</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3</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1</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84</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52400">
                <a:tc>
                  <a:txBody>
                    <a:bodyPr/>
                    <a:lstStyle/>
                    <a:p>
                      <a:pPr indent="0" algn="ctr">
                        <a:buNone/>
                      </a:pPr>
                      <a:r>
                        <a:rPr lang="en-US" sz="1100" b="0">
                          <a:solidFill>
                            <a:srgbClr val="000000"/>
                          </a:solidFill>
                          <a:latin typeface="Calibri" panose="020F0502020204030204" charset="0"/>
                          <a:cs typeface="Calibri" panose="020F0502020204030204" charset="0"/>
                        </a:rPr>
                        <a:t>7</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3</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1</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3</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101</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52400">
                <a:tc>
                  <a:txBody>
                    <a:bodyPr/>
                    <a:lstStyle/>
                    <a:p>
                      <a:pPr indent="0" algn="ctr">
                        <a:buNone/>
                      </a:pPr>
                      <a:r>
                        <a:rPr lang="en-US" sz="1100" b="0">
                          <a:solidFill>
                            <a:srgbClr val="000000"/>
                          </a:solidFill>
                          <a:latin typeface="Calibri" panose="020F0502020204030204" charset="0"/>
                          <a:cs typeface="Calibri" panose="020F0502020204030204" charset="0"/>
                        </a:rPr>
                        <a:t>8</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3</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2</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1</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59</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152400">
                <a:tc>
                  <a:txBody>
                    <a:bodyPr/>
                    <a:lstStyle/>
                    <a:p>
                      <a:pPr indent="0" algn="ctr">
                        <a:buNone/>
                      </a:pPr>
                      <a:r>
                        <a:rPr lang="en-US" sz="1100" b="0">
                          <a:solidFill>
                            <a:srgbClr val="000000"/>
                          </a:solidFill>
                          <a:latin typeface="Calibri" panose="020F0502020204030204" charset="0"/>
                          <a:cs typeface="Calibri" panose="020F0502020204030204" charset="0"/>
                        </a:rPr>
                        <a:t>9</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solidFill>
                      <a:srgbClr val="D8D8D8"/>
                    </a:solidFill>
                  </a:tcPr>
                </a:tc>
                <a:tc>
                  <a:txBody>
                    <a:bodyPr/>
                    <a:lstStyle/>
                    <a:p>
                      <a:pPr indent="0" algn="ctr">
                        <a:buNone/>
                      </a:pPr>
                      <a:r>
                        <a:rPr lang="en-US" sz="1100" b="0">
                          <a:solidFill>
                            <a:srgbClr val="000000"/>
                          </a:solidFill>
                          <a:latin typeface="Calibri" panose="020F0502020204030204" charset="0"/>
                          <a:cs typeface="Calibri" panose="020F0502020204030204" charset="0"/>
                        </a:rPr>
                        <a:t>3</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3</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2</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1100" b="0">
                          <a:solidFill>
                            <a:srgbClr val="000000"/>
                          </a:solidFill>
                          <a:latin typeface="Calibri" panose="020F0502020204030204" charset="0"/>
                          <a:cs typeface="Calibri" panose="020F0502020204030204" charset="0"/>
                        </a:rPr>
                        <a:t>77</a:t>
                      </a:r>
                      <a:endParaRPr lang="en-US" sz="1100" b="0">
                        <a:solidFill>
                          <a:srgbClr val="000000"/>
                        </a:solidFill>
                        <a:latin typeface="Calibri" panose="020F0502020204030204" charset="0"/>
                        <a:ea typeface="Calibri" panose="020F0502020204030204" charset="0"/>
                        <a:cs typeface="Calibri" panose="020F0502020204030204" charset="0"/>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4" name="Text Box 3"/>
          <p:cNvSpPr txBox="1"/>
          <p:nvPr/>
        </p:nvSpPr>
        <p:spPr>
          <a:xfrm>
            <a:off x="1253490" y="6202680"/>
            <a:ext cx="5080000" cy="306705"/>
          </a:xfrm>
          <a:prstGeom prst="rect">
            <a:avLst/>
          </a:prstGeom>
          <a:noFill/>
          <a:ln w="9525">
            <a:noFill/>
          </a:ln>
        </p:spPr>
        <p:txBody>
          <a:bodyPr>
            <a:spAutoFit/>
          </a:bodyPr>
          <a:lstStyle/>
          <a:p>
            <a:pPr indent="0"/>
            <a:r>
              <a:rPr lang="en-IN" altLang="en-US" sz="1400" b="0" u="sng">
                <a:latin typeface="Calibri" panose="020F0502020204030204" charset="0"/>
                <a:ea typeface="SimSun" panose="02010600030101010101" pitchFamily="2" charset="-122"/>
              </a:rPr>
              <a:t>Table 2: </a:t>
            </a:r>
            <a:r>
              <a:rPr lang="en-US" sz="1400" b="0" u="sng">
                <a:latin typeface="Calibri" panose="020F0502020204030204" charset="0"/>
                <a:ea typeface="SimSun" panose="02010600030101010101" pitchFamily="2" charset="-122"/>
              </a:rPr>
              <a:t>Experimental dataset for Nylon 6 using L9 orthogonal array</a:t>
            </a:r>
            <a:endParaRPr lang="en-US" sz="1400" u="sng"/>
          </a:p>
        </p:txBody>
      </p:sp>
      <p:sp>
        <p:nvSpPr>
          <p:cNvPr id="5" name="Text Box 4"/>
          <p:cNvSpPr txBox="1"/>
          <p:nvPr/>
        </p:nvSpPr>
        <p:spPr>
          <a:xfrm>
            <a:off x="734695" y="2506980"/>
            <a:ext cx="10414635" cy="922020"/>
          </a:xfrm>
          <a:prstGeom prst="rect">
            <a:avLst/>
          </a:prstGeom>
          <a:noFill/>
          <a:ln w="9525">
            <a:noFill/>
          </a:ln>
        </p:spPr>
        <p:txBody>
          <a:bodyPr wrap="square">
            <a:spAutoFit/>
          </a:bodyPr>
          <a:lstStyle/>
          <a:p>
            <a:pPr indent="0"/>
            <a:r>
              <a:rPr lang="en-US" b="0" i="1">
                <a:latin typeface="Calibri" panose="020F0502020204030204" charset="0"/>
                <a:ea typeface="SimSun" panose="02010600030101010101" pitchFamily="2" charset="-122"/>
              </a:rPr>
              <a:t>Nine experiments have been conducted based on L9 orthogonal array experimental design as given in Table 2. Time is measured using stopwatch and it is representative of the total time required to build the part i.e from printing layer1 to the final layer</a:t>
            </a:r>
            <a:endParaRPr lang="en-US"/>
          </a:p>
        </p:txBody>
      </p:sp>
      <p:pic>
        <p:nvPicPr>
          <p:cNvPr id="20" name="Picture 20" descr="http://www.meltrapid.com/wp-content/uploads/2019/11/Arya-un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7290118" y="168593"/>
            <a:ext cx="2338705" cy="2219325"/>
          </a:xfrm>
          <a:prstGeom prst="rect">
            <a:avLst/>
          </a:prstGeom>
          <a:noFill/>
          <a:ln>
            <a:noFill/>
          </a:ln>
        </p:spPr>
      </p:pic>
      <p:sp>
        <p:nvSpPr>
          <p:cNvPr id="8" name="Text Box 7"/>
          <p:cNvSpPr txBox="1"/>
          <p:nvPr/>
        </p:nvSpPr>
        <p:spPr>
          <a:xfrm>
            <a:off x="9629140" y="1141095"/>
            <a:ext cx="1852295" cy="583565"/>
          </a:xfrm>
          <a:prstGeom prst="rect">
            <a:avLst/>
          </a:prstGeom>
          <a:noFill/>
          <a:ln w="9525">
            <a:noFill/>
          </a:ln>
        </p:spPr>
        <p:txBody>
          <a:bodyPr wrap="square">
            <a:spAutoFit/>
          </a:bodyPr>
          <a:lstStyle/>
          <a:p>
            <a:pPr indent="0" algn="ctr"/>
            <a:r>
              <a:rPr lang="en-US" sz="1600" b="1" u="sng">
                <a:latin typeface="Times New Roman" panose="02020603050405020304" charset="0"/>
              </a:rPr>
              <a:t>Arya_Uno+ FDM type 3D printer</a:t>
            </a:r>
            <a:endParaRPr lang="en-US" sz="1600" u="sng"/>
          </a:p>
        </p:txBody>
      </p:sp>
      <p:pic>
        <p:nvPicPr>
          <p:cNvPr id="10" name="Picture 9" descr="WhatsApp Image 2021-12-21 at 20.20.15 (1)"/>
          <p:cNvPicPr>
            <a:picLocks noChangeAspect="1"/>
          </p:cNvPicPr>
          <p:nvPr/>
        </p:nvPicPr>
        <p:blipFill>
          <a:blip r:embed="rId3"/>
          <a:stretch>
            <a:fillRect/>
          </a:stretch>
        </p:blipFill>
        <p:spPr>
          <a:xfrm>
            <a:off x="7290435" y="3547745"/>
            <a:ext cx="2458720" cy="2763520"/>
          </a:xfrm>
          <a:prstGeom prst="rect">
            <a:avLst/>
          </a:prstGeom>
        </p:spPr>
      </p:pic>
      <p:sp>
        <p:nvSpPr>
          <p:cNvPr id="6" name="TextBox 5"/>
          <p:cNvSpPr txBox="1"/>
          <p:nvPr/>
        </p:nvSpPr>
        <p:spPr>
          <a:xfrm>
            <a:off x="7290276" y="6390476"/>
            <a:ext cx="2459037" cy="369332"/>
          </a:xfrm>
          <a:prstGeom prst="rect">
            <a:avLst/>
          </a:prstGeom>
          <a:noFill/>
        </p:spPr>
        <p:txBody>
          <a:bodyPr wrap="square" rtlCol="0">
            <a:spAutoFit/>
          </a:bodyPr>
          <a:lstStyle/>
          <a:p>
            <a:pPr algn="ctr"/>
            <a:r>
              <a:rPr lang="en-US" dirty="0" smtClean="0"/>
              <a:t>ABS Printing</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566688"/>
            <a:ext cx="12191999" cy="553998"/>
          </a:xfrm>
          <a:prstGeom prst="rect">
            <a:avLst/>
          </a:prstGeom>
          <a:noFill/>
        </p:spPr>
        <p:txBody>
          <a:bodyPr wrap="square" rtlCol="0">
            <a:spAutoFit/>
          </a:bodyPr>
          <a:lstStyle/>
          <a:p>
            <a:pPr algn="ctr"/>
            <a:r>
              <a:rPr lang="en-US" sz="3000" b="1" dirty="0" smtClean="0"/>
              <a:t>Experimentation using Taguchi method of optimization</a:t>
            </a:r>
          </a:p>
        </p:txBody>
      </p:sp>
      <p:sp>
        <p:nvSpPr>
          <p:cNvPr id="6" name="TextBox 5"/>
          <p:cNvSpPr txBox="1"/>
          <p:nvPr/>
        </p:nvSpPr>
        <p:spPr>
          <a:xfrm>
            <a:off x="976184" y="1209073"/>
            <a:ext cx="9752798" cy="646331"/>
          </a:xfrm>
          <a:prstGeom prst="rect">
            <a:avLst/>
          </a:prstGeom>
          <a:noFill/>
        </p:spPr>
        <p:txBody>
          <a:bodyPr wrap="none" rtlCol="0">
            <a:spAutoFit/>
          </a:bodyPr>
          <a:lstStyle/>
          <a:p>
            <a:r>
              <a:rPr lang="en-US" dirty="0" smtClean="0"/>
              <a:t>When the control factors are high, use of Taguchi technique can minimize the number of experiments.</a:t>
            </a:r>
          </a:p>
          <a:p>
            <a:endParaRPr lang="en-US" dirty="0"/>
          </a:p>
        </p:txBody>
      </p:sp>
      <p:pic>
        <p:nvPicPr>
          <p:cNvPr id="7" name="Picture 6"/>
          <p:cNvPicPr>
            <a:picLocks noChangeAspect="1"/>
          </p:cNvPicPr>
          <p:nvPr/>
        </p:nvPicPr>
        <p:blipFill>
          <a:blip r:embed="rId2"/>
          <a:stretch>
            <a:fillRect/>
          </a:stretch>
        </p:blipFill>
        <p:spPr>
          <a:xfrm>
            <a:off x="2153533" y="1709013"/>
            <a:ext cx="7398100" cy="2084688"/>
          </a:xfrm>
          <a:prstGeom prst="rect">
            <a:avLst/>
          </a:prstGeom>
        </p:spPr>
      </p:pic>
      <p:sp>
        <p:nvSpPr>
          <p:cNvPr id="8" name="TextBox 7"/>
          <p:cNvSpPr txBox="1"/>
          <p:nvPr/>
        </p:nvSpPr>
        <p:spPr>
          <a:xfrm>
            <a:off x="976184" y="3970475"/>
            <a:ext cx="10898659" cy="2308324"/>
          </a:xfrm>
          <a:prstGeom prst="rect">
            <a:avLst/>
          </a:prstGeom>
          <a:noFill/>
        </p:spPr>
        <p:txBody>
          <a:bodyPr wrap="square" rtlCol="0">
            <a:spAutoFit/>
          </a:bodyPr>
          <a:lstStyle/>
          <a:p>
            <a:pPr marL="285750" indent="-285750">
              <a:buFont typeface="Arial" panose="020B0604020202020204" pitchFamily="34" charset="0"/>
              <a:buChar char="•"/>
            </a:pPr>
            <a:r>
              <a:rPr lang="en-US" dirty="0" smtClean="0"/>
              <a:t>Here we have 3 control factors and 3 levels. Instead of performing 27 experiments, we can use only 9 to conduct our  experiment.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IN" dirty="0" smtClean="0"/>
              <a:t>In the Taguchi method, the term ‘signal’ represents the desirable value for the output characteristic and the term ‘noise’ represents the undesirable value for the output characteristic.</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Therefore, the term ‘signal-to-noise ratio’ or S/N ratio in Taguchi method measures the deviation of quality characteristic from the desired value.</a:t>
            </a:r>
            <a:endParaRPr lang="en-US" dirty="0"/>
          </a:p>
        </p:txBody>
      </p:sp>
    </p:spTree>
    <p:extLst>
      <p:ext uri="{BB962C8B-B14F-4D97-AF65-F5344CB8AC3E}">
        <p14:creationId xmlns:p14="http://schemas.microsoft.com/office/powerpoint/2010/main" val="11397499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6755" y="469558"/>
            <a:ext cx="8071248" cy="923330"/>
          </a:xfrm>
          <a:prstGeom prst="rect">
            <a:avLst/>
          </a:prstGeom>
          <a:noFill/>
        </p:spPr>
        <p:txBody>
          <a:bodyPr wrap="none" rtlCol="0">
            <a:spAutoFit/>
          </a:bodyPr>
          <a:lstStyle/>
          <a:p>
            <a:r>
              <a:rPr lang="en-IN" dirty="0" smtClean="0"/>
              <a:t>Optimization in Taguchi method means maximization of S/N ratio.</a:t>
            </a:r>
          </a:p>
          <a:p>
            <a:endParaRPr lang="en-IN" dirty="0"/>
          </a:p>
          <a:p>
            <a:r>
              <a:rPr lang="en-IN" dirty="0" smtClean="0"/>
              <a:t>Time of the printed parts is measured and is written against the experiment number:</a:t>
            </a:r>
            <a:endParaRPr lang="en-US" dirty="0"/>
          </a:p>
        </p:txBody>
      </p:sp>
      <p:pic>
        <p:nvPicPr>
          <p:cNvPr id="3" name="Picture 2"/>
          <p:cNvPicPr>
            <a:picLocks noChangeAspect="1"/>
          </p:cNvPicPr>
          <p:nvPr/>
        </p:nvPicPr>
        <p:blipFill rotWithShape="1">
          <a:blip r:embed="rId2"/>
          <a:srcRect t="2873"/>
          <a:stretch/>
        </p:blipFill>
        <p:spPr>
          <a:xfrm>
            <a:off x="1932932" y="1692875"/>
            <a:ext cx="7964831" cy="3458037"/>
          </a:xfrm>
          <a:prstGeom prst="rect">
            <a:avLst/>
          </a:prstGeom>
        </p:spPr>
      </p:pic>
      <p:pic>
        <p:nvPicPr>
          <p:cNvPr id="5" name="Picture 4"/>
          <p:cNvPicPr>
            <a:picLocks noChangeAspect="1"/>
          </p:cNvPicPr>
          <p:nvPr/>
        </p:nvPicPr>
        <p:blipFill>
          <a:blip r:embed="rId3"/>
          <a:stretch>
            <a:fillRect/>
          </a:stretch>
        </p:blipFill>
        <p:spPr>
          <a:xfrm>
            <a:off x="3714665" y="5156165"/>
            <a:ext cx="4875565" cy="384913"/>
          </a:xfrm>
          <a:prstGeom prst="rect">
            <a:avLst/>
          </a:prstGeom>
        </p:spPr>
      </p:pic>
    </p:spTree>
    <p:extLst>
      <p:ext uri="{BB962C8B-B14F-4D97-AF65-F5344CB8AC3E}">
        <p14:creationId xmlns:p14="http://schemas.microsoft.com/office/powerpoint/2010/main" val="30222643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95471" y="1452968"/>
            <a:ext cx="6401058" cy="3319508"/>
          </a:xfrm>
          <a:prstGeom prst="rect">
            <a:avLst/>
          </a:prstGeom>
        </p:spPr>
      </p:pic>
      <p:sp>
        <p:nvSpPr>
          <p:cNvPr id="3" name="TextBox 2"/>
          <p:cNvSpPr txBox="1"/>
          <p:nvPr/>
        </p:nvSpPr>
        <p:spPr>
          <a:xfrm>
            <a:off x="1033362" y="5474044"/>
            <a:ext cx="10125273" cy="923330"/>
          </a:xfrm>
          <a:prstGeom prst="rect">
            <a:avLst/>
          </a:prstGeom>
          <a:noFill/>
        </p:spPr>
        <p:txBody>
          <a:bodyPr wrap="square" rtlCol="0">
            <a:spAutoFit/>
          </a:bodyPr>
          <a:lstStyle/>
          <a:p>
            <a:pPr marL="285750" indent="-285750">
              <a:buFont typeface="Arial" panose="020B0604020202020204" pitchFamily="34" charset="0"/>
              <a:buChar char="•"/>
            </a:pPr>
            <a:r>
              <a:rPr lang="en-US" dirty="0" smtClean="0"/>
              <a:t>Here, Quality loss is obtained by squaring the values of time (in minutes). </a:t>
            </a:r>
          </a:p>
          <a:p>
            <a:pPr marL="285750" indent="-285750">
              <a:buFont typeface="Arial" panose="020B0604020202020204" pitchFamily="34" charset="0"/>
              <a:buChar char="•"/>
            </a:pPr>
            <a:r>
              <a:rPr lang="en-US" dirty="0" smtClean="0"/>
              <a:t>Normalised Quality loss is achieved by dividing the Quality loss by the maximum quality loss (i.e. 85849)</a:t>
            </a:r>
          </a:p>
          <a:p>
            <a:pPr marL="285750" indent="-285750">
              <a:buFont typeface="Arial" panose="020B0604020202020204" pitchFamily="34" charset="0"/>
              <a:buChar char="•"/>
            </a:pPr>
            <a:r>
              <a:rPr lang="en-US" dirty="0" smtClean="0"/>
              <a:t>SNR is calculated from the formula –LOG (Normalised Quality loss).</a:t>
            </a:r>
            <a:endParaRPr lang="en-US" dirty="0"/>
          </a:p>
        </p:txBody>
      </p:sp>
      <p:pic>
        <p:nvPicPr>
          <p:cNvPr id="4" name="Picture 3"/>
          <p:cNvPicPr>
            <a:picLocks noChangeAspect="1"/>
          </p:cNvPicPr>
          <p:nvPr/>
        </p:nvPicPr>
        <p:blipFill>
          <a:blip r:embed="rId3"/>
          <a:stretch>
            <a:fillRect/>
          </a:stretch>
        </p:blipFill>
        <p:spPr>
          <a:xfrm>
            <a:off x="3706873" y="4832769"/>
            <a:ext cx="4778253" cy="302847"/>
          </a:xfrm>
          <a:prstGeom prst="rect">
            <a:avLst/>
          </a:prstGeom>
        </p:spPr>
      </p:pic>
      <p:sp>
        <p:nvSpPr>
          <p:cNvPr id="5" name="TextBox 4"/>
          <p:cNvSpPr txBox="1"/>
          <p:nvPr/>
        </p:nvSpPr>
        <p:spPr>
          <a:xfrm>
            <a:off x="0" y="683589"/>
            <a:ext cx="12192000" cy="553998"/>
          </a:xfrm>
          <a:prstGeom prst="rect">
            <a:avLst/>
          </a:prstGeom>
          <a:noFill/>
        </p:spPr>
        <p:txBody>
          <a:bodyPr wrap="square" rtlCol="0">
            <a:spAutoFit/>
          </a:bodyPr>
          <a:lstStyle/>
          <a:p>
            <a:pPr algn="ctr"/>
            <a:r>
              <a:rPr lang="en-US" sz="3000" b="1" dirty="0" smtClean="0"/>
              <a:t>Calculating SNR</a:t>
            </a:r>
            <a:endParaRPr lang="en-US" sz="3000" b="1" dirty="0"/>
          </a:p>
        </p:txBody>
      </p:sp>
    </p:spTree>
    <p:extLst>
      <p:ext uri="{BB962C8B-B14F-4D97-AF65-F5344CB8AC3E}">
        <p14:creationId xmlns:p14="http://schemas.microsoft.com/office/powerpoint/2010/main" val="42260599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580768"/>
            <a:ext cx="12192000" cy="553998"/>
          </a:xfrm>
          <a:prstGeom prst="rect">
            <a:avLst/>
          </a:prstGeom>
          <a:noFill/>
        </p:spPr>
        <p:txBody>
          <a:bodyPr wrap="square" rtlCol="0">
            <a:spAutoFit/>
          </a:bodyPr>
          <a:lstStyle/>
          <a:p>
            <a:pPr algn="ctr"/>
            <a:r>
              <a:rPr lang="en-IN" sz="3000" b="1" dirty="0" smtClean="0"/>
              <a:t>The effect of different operating parameters on S/N ratio</a:t>
            </a:r>
            <a:endParaRPr lang="en-US" sz="3000" b="1" dirty="0"/>
          </a:p>
        </p:txBody>
      </p:sp>
      <p:pic>
        <p:nvPicPr>
          <p:cNvPr id="3" name="Picture 2"/>
          <p:cNvPicPr>
            <a:picLocks noChangeAspect="1"/>
          </p:cNvPicPr>
          <p:nvPr/>
        </p:nvPicPr>
        <p:blipFill rotWithShape="1">
          <a:blip r:embed="rId2"/>
          <a:srcRect t="2764"/>
          <a:stretch/>
        </p:blipFill>
        <p:spPr>
          <a:xfrm>
            <a:off x="2530822" y="1297461"/>
            <a:ext cx="7130356" cy="2244835"/>
          </a:xfrm>
          <a:prstGeom prst="rect">
            <a:avLst/>
          </a:prstGeom>
        </p:spPr>
      </p:pic>
      <p:sp>
        <p:nvSpPr>
          <p:cNvPr id="4" name="TextBox 3"/>
          <p:cNvSpPr txBox="1"/>
          <p:nvPr/>
        </p:nvSpPr>
        <p:spPr>
          <a:xfrm>
            <a:off x="926757" y="4337222"/>
            <a:ext cx="10692027" cy="923330"/>
          </a:xfrm>
          <a:prstGeom prst="rect">
            <a:avLst/>
          </a:prstGeom>
          <a:noFill/>
        </p:spPr>
        <p:txBody>
          <a:bodyPr wrap="square" rtlCol="0">
            <a:spAutoFit/>
          </a:bodyPr>
          <a:lstStyle/>
          <a:p>
            <a:r>
              <a:rPr lang="en-IN" dirty="0" smtClean="0"/>
              <a:t>Optimum levels of different control factors for obtaining Time are </a:t>
            </a:r>
            <a:r>
              <a:rPr lang="en-IN" b="1" dirty="0" smtClean="0"/>
              <a:t>Slice Thickness at level 3 (0.3mm), Head Speed at level 1 (25 m/min), and Infill density at level 1 (20%)</a:t>
            </a:r>
            <a:r>
              <a:rPr lang="en-IN" dirty="0" smtClean="0"/>
              <a:t> Relative contribution of the controlling parameters on Time.</a:t>
            </a:r>
            <a:endParaRPr lang="en-US" dirty="0"/>
          </a:p>
        </p:txBody>
      </p:sp>
    </p:spTree>
    <p:extLst>
      <p:ext uri="{BB962C8B-B14F-4D97-AF65-F5344CB8AC3E}">
        <p14:creationId xmlns:p14="http://schemas.microsoft.com/office/powerpoint/2010/main" val="117716983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91994" y="1334530"/>
            <a:ext cx="6507799" cy="1927782"/>
          </a:xfrm>
          <a:prstGeom prst="rect">
            <a:avLst/>
          </a:prstGeom>
        </p:spPr>
      </p:pic>
      <p:sp>
        <p:nvSpPr>
          <p:cNvPr id="3" name="TextBox 2"/>
          <p:cNvSpPr txBox="1"/>
          <p:nvPr/>
        </p:nvSpPr>
        <p:spPr>
          <a:xfrm>
            <a:off x="-50106" y="556054"/>
            <a:ext cx="12192000" cy="553998"/>
          </a:xfrm>
          <a:prstGeom prst="rect">
            <a:avLst/>
          </a:prstGeom>
          <a:noFill/>
        </p:spPr>
        <p:txBody>
          <a:bodyPr wrap="square" rtlCol="0">
            <a:spAutoFit/>
          </a:bodyPr>
          <a:lstStyle/>
          <a:p>
            <a:pPr algn="ctr"/>
            <a:r>
              <a:rPr lang="en-US" sz="3000" b="1" dirty="0" smtClean="0"/>
              <a:t>Validation experiment at optimum results level</a:t>
            </a:r>
            <a:endParaRPr lang="en-US" sz="3000" b="1" dirty="0"/>
          </a:p>
        </p:txBody>
      </p:sp>
      <p:sp>
        <p:nvSpPr>
          <p:cNvPr id="4" name="TextBox 3"/>
          <p:cNvSpPr txBox="1"/>
          <p:nvPr/>
        </p:nvSpPr>
        <p:spPr>
          <a:xfrm>
            <a:off x="1126184" y="4114800"/>
            <a:ext cx="9839417" cy="923330"/>
          </a:xfrm>
          <a:prstGeom prst="rect">
            <a:avLst/>
          </a:prstGeom>
          <a:noFill/>
        </p:spPr>
        <p:txBody>
          <a:bodyPr wrap="square" rtlCol="0">
            <a:spAutoFit/>
          </a:bodyPr>
          <a:lstStyle/>
          <a:p>
            <a:r>
              <a:rPr lang="en-IN" dirty="0" smtClean="0"/>
              <a:t>The validation experiment has been conducted with above mentioned optimum levels of operating parameters and optimized output with corresponding SNR is given in Table5. The significant improvement in SNR is observed to be 8.7554 dB during comparison with initial parameter setting.</a:t>
            </a:r>
            <a:endParaRPr lang="en-US" dirty="0"/>
          </a:p>
        </p:txBody>
      </p:sp>
      <p:pic>
        <p:nvPicPr>
          <p:cNvPr id="5" name="Picture 4"/>
          <p:cNvPicPr>
            <a:picLocks noChangeAspect="1"/>
          </p:cNvPicPr>
          <p:nvPr/>
        </p:nvPicPr>
        <p:blipFill>
          <a:blip r:embed="rId3"/>
          <a:stretch>
            <a:fillRect/>
          </a:stretch>
        </p:blipFill>
        <p:spPr>
          <a:xfrm>
            <a:off x="3805367" y="3262312"/>
            <a:ext cx="4481050" cy="300166"/>
          </a:xfrm>
          <a:prstGeom prst="rect">
            <a:avLst/>
          </a:prstGeom>
        </p:spPr>
      </p:pic>
    </p:spTree>
    <p:extLst>
      <p:ext uri="{BB962C8B-B14F-4D97-AF65-F5344CB8AC3E}">
        <p14:creationId xmlns:p14="http://schemas.microsoft.com/office/powerpoint/2010/main" val="13014392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469557"/>
            <a:ext cx="12192000" cy="553998"/>
          </a:xfrm>
          <a:prstGeom prst="rect">
            <a:avLst/>
          </a:prstGeom>
          <a:noFill/>
        </p:spPr>
        <p:txBody>
          <a:bodyPr wrap="square" rtlCol="0">
            <a:spAutoFit/>
          </a:bodyPr>
          <a:lstStyle/>
          <a:p>
            <a:pPr algn="ctr"/>
            <a:r>
              <a:rPr lang="en-US" sz="3000" b="1" dirty="0" smtClean="0"/>
              <a:t>Conclusion</a:t>
            </a:r>
            <a:endParaRPr lang="en-US" sz="3000" b="1" dirty="0"/>
          </a:p>
        </p:txBody>
      </p:sp>
      <p:sp>
        <p:nvSpPr>
          <p:cNvPr id="3" name="Rectangle 2"/>
          <p:cNvSpPr/>
          <p:nvPr/>
        </p:nvSpPr>
        <p:spPr>
          <a:xfrm>
            <a:off x="757881" y="1396313"/>
            <a:ext cx="10676238" cy="2031325"/>
          </a:xfrm>
          <a:prstGeom prst="rect">
            <a:avLst/>
          </a:prstGeom>
        </p:spPr>
        <p:txBody>
          <a:bodyPr wrap="square">
            <a:spAutoFit/>
          </a:bodyPr>
          <a:lstStyle/>
          <a:p>
            <a:pPr marL="285750" indent="-285750">
              <a:buFont typeface="Arial" panose="020B0604020202020204" pitchFamily="34" charset="0"/>
              <a:buChar char="•"/>
            </a:pPr>
            <a:r>
              <a:rPr lang="en-IN" dirty="0" smtClean="0"/>
              <a:t>Results of Taguchi optimization indicate that minimum build time can be achieved by operating with input parameter setting of slice thickness is put to level 3, Head speed is put to level 1, and infill density is put to level 1. </a:t>
            </a:r>
          </a:p>
          <a:p>
            <a:pPr marL="285750" indent="-285750">
              <a:buFont typeface="Arial" panose="020B0604020202020204" pitchFamily="34" charset="0"/>
              <a:buChar char="•"/>
            </a:pPr>
            <a:endParaRPr lang="en-IN" dirty="0" smtClean="0"/>
          </a:p>
          <a:p>
            <a:pPr marL="285750" indent="-285750">
              <a:buFont typeface="Arial" panose="020B0604020202020204" pitchFamily="34" charset="0"/>
              <a:buChar char="•"/>
            </a:pPr>
            <a:r>
              <a:rPr lang="en-IN" dirty="0" smtClean="0"/>
              <a:t>Variation of Head speed is insignificant across the 3 levels even if our result yields level 1 as optimum. </a:t>
            </a:r>
          </a:p>
          <a:p>
            <a:pPr marL="285750" indent="-285750">
              <a:buFont typeface="Arial" panose="020B0604020202020204" pitchFamily="34" charset="0"/>
              <a:buChar char="•"/>
            </a:pPr>
            <a:endParaRPr lang="en-IN" dirty="0" smtClean="0"/>
          </a:p>
          <a:p>
            <a:pPr marL="285750" indent="-285750">
              <a:buFont typeface="Arial" panose="020B0604020202020204" pitchFamily="34" charset="0"/>
              <a:buChar char="•"/>
            </a:pPr>
            <a:r>
              <a:rPr lang="en-IN" dirty="0" smtClean="0"/>
              <a:t>The S/N ratio compared to initial conditions has been improved by 8.7554 </a:t>
            </a:r>
            <a:r>
              <a:rPr lang="en-IN" dirty="0" err="1" smtClean="0"/>
              <a:t>dB.</a:t>
            </a:r>
            <a:r>
              <a:rPr lang="en-IN" dirty="0" smtClean="0"/>
              <a:t> </a:t>
            </a:r>
            <a:endParaRPr lang="en-US" dirty="0"/>
          </a:p>
        </p:txBody>
      </p:sp>
    </p:spTree>
    <p:extLst>
      <p:ext uri="{BB962C8B-B14F-4D97-AF65-F5344CB8AC3E}">
        <p14:creationId xmlns:p14="http://schemas.microsoft.com/office/powerpoint/2010/main" val="26058673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815545"/>
            <a:ext cx="12192000" cy="553998"/>
          </a:xfrm>
          <a:prstGeom prst="rect">
            <a:avLst/>
          </a:prstGeom>
          <a:noFill/>
        </p:spPr>
        <p:txBody>
          <a:bodyPr wrap="square" rtlCol="0">
            <a:spAutoFit/>
          </a:bodyPr>
          <a:lstStyle/>
          <a:p>
            <a:pPr algn="ctr"/>
            <a:r>
              <a:rPr lang="en-US" sz="3000" b="1" dirty="0" smtClean="0"/>
              <a:t>Future Scope of Work</a:t>
            </a:r>
            <a:endParaRPr lang="en-US" sz="3000" b="1" dirty="0"/>
          </a:p>
        </p:txBody>
      </p:sp>
      <p:sp>
        <p:nvSpPr>
          <p:cNvPr id="3" name="TextBox 2"/>
          <p:cNvSpPr txBox="1"/>
          <p:nvPr/>
        </p:nvSpPr>
        <p:spPr>
          <a:xfrm>
            <a:off x="869092" y="1705232"/>
            <a:ext cx="10453815" cy="1477328"/>
          </a:xfrm>
          <a:prstGeom prst="rect">
            <a:avLst/>
          </a:prstGeom>
          <a:noFill/>
        </p:spPr>
        <p:txBody>
          <a:bodyPr wrap="square" rtlCol="0">
            <a:spAutoFit/>
          </a:bodyPr>
          <a:lstStyle/>
          <a:p>
            <a:r>
              <a:rPr lang="en-IN" dirty="0" smtClean="0"/>
              <a:t>It has been initially planned to optimize four output parameters </a:t>
            </a:r>
            <a:r>
              <a:rPr lang="en-IN" dirty="0" err="1" smtClean="0"/>
              <a:t>i.e</a:t>
            </a:r>
            <a:r>
              <a:rPr lang="en-IN" dirty="0" smtClean="0"/>
              <a:t> Tensile Strength, Surface roughness, weight and build time. But due to the closure of the institution as the situation outside worsened, we were unable to perform the Tensile testing and Surface roughness testing of the 9 printed specimens. But we will continue the pending work as soon as the situation permits and we will complete the work through computing the optimization of the process based on three output parameters.</a:t>
            </a:r>
            <a:endParaRPr lang="en-US" dirty="0"/>
          </a:p>
        </p:txBody>
      </p:sp>
    </p:spTree>
    <p:extLst>
      <p:ext uri="{BB962C8B-B14F-4D97-AF65-F5344CB8AC3E}">
        <p14:creationId xmlns:p14="http://schemas.microsoft.com/office/powerpoint/2010/main" val="168181585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TotalTime>
  <Words>1116</Words>
  <Application>Microsoft Office PowerPoint</Application>
  <PresentationFormat>Widescreen</PresentationFormat>
  <Paragraphs>188</Paragraphs>
  <Slides>16</Slides>
  <Notes>0</Notes>
  <HiddenSlides>1</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SimSun</vt:lpstr>
      <vt:lpstr>Agency FB</vt:lpstr>
      <vt:lpstr>Arial</vt:lpstr>
      <vt:lpstr>Bahnschrift SemiBold</vt:lpstr>
      <vt:lpstr>Calibri</vt:lpstr>
      <vt:lpstr>Calibri Light</vt:lpstr>
      <vt:lpstr>Tahoma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RIT PRASAD DHAR</cp:lastModifiedBy>
  <cp:revision>9</cp:revision>
  <dcterms:created xsi:type="dcterms:W3CDTF">2022-01-14T20:01:42Z</dcterms:created>
  <dcterms:modified xsi:type="dcterms:W3CDTF">2022-01-15T03:47:27Z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09365BA4527A4C9F9003545525D7A265</vt:lpwstr>
  </property>
  <property fmtid="{D5CDD505-2E9C-101B-9397-08002B2CF9AE}" pid="3" name="KSOProductBuildVer">
    <vt:lpwstr>1033-11.2.0.10443</vt:lpwstr>
  </property>
</Properties>
</file>